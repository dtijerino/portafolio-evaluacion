
<file path=[Content_Types].xml><?xml version="1.0" encoding="utf-8"?>
<Types xmlns="http://schemas.openxmlformats.org/package/2006/content-types">
  <Default Extension="png" ContentType="image/png"/>
  <Default Extension="jpeg" ContentType="image/jpeg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68" r:id="rId2"/>
    <p:sldId id="269" r:id="rId3"/>
    <p:sldId id="270" r:id="rId4"/>
    <p:sldId id="310" r:id="rId5"/>
    <p:sldId id="271" r:id="rId6"/>
  </p:sldIdLst>
  <p:sldSz cx="9144000" cy="6858000" type="screen4x3"/>
  <p:notesSz cx="7010400" cy="92964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C6F46"/>
    <a:srgbClr val="916741"/>
    <a:srgbClr val="855E3B"/>
    <a:srgbClr val="FFCC00"/>
    <a:srgbClr val="FF9900"/>
    <a:srgbClr val="FFFF66"/>
    <a:srgbClr val="FFFFE5"/>
    <a:srgbClr val="FFFF99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76" autoAdjust="0"/>
  </p:normalViewPr>
  <p:slideViewPr>
    <p:cSldViewPr>
      <p:cViewPr varScale="1">
        <p:scale>
          <a:sx n="71" d="100"/>
          <a:sy n="71" d="100"/>
        </p:scale>
        <p:origin x="135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71714" y="0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A93FAE6A-8F0C-4FA5-B293-438F492AC196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29834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71714" y="8829834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8FF27886-26D0-458A-9920-F0D79BBEBB77}" type="slidenum">
              <a:rPr lang="es-CR" smtClean="0"/>
              <a:t>‹Nº›</a:t>
            </a:fld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83075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4DE3690E-0A3C-461E-A6F7-A0675895CC9B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s-C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8D70F2AD-7906-4A82-BDB2-65881048E918}" type="slidenum">
              <a:rPr lang="es-CR" smtClean="0"/>
              <a:t>‹Nº›</a:t>
            </a:fld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14203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703413-90BE-41A4-A8F9-F9B8B2BAF948}" type="slidenum">
              <a:rPr lang="es-CR" smtClean="0"/>
              <a:pPr>
                <a:defRPr/>
              </a:pPr>
              <a:t>5</a:t>
            </a:fld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50371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DCCC7E54-2C0D-498A-BA8C-FC89A525D868}" type="datetimeFigureOut">
              <a:rPr lang="es-CR" smtClean="0"/>
              <a:t>21/8/2020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encrypted-tbn3.gstatic.com/images?q=tbn:ANd9GcTR3lZOQUqU6n7VnQnqxGsZeRRJI9DmypkWZ0it9GP19AzYKPh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644" y="2852936"/>
            <a:ext cx="1165427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593304" y="746701"/>
            <a:ext cx="77575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R" sz="20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¿</a:t>
            </a:r>
            <a:r>
              <a:rPr lang="es-CR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POR QUÉ USAR INSTRUMENTOS TÉCNICAMENTE ELABORADOS PARA EVALUAR EL NIVEL Y LA CALIDAD DEL APRENDIZAJE DEL ESTUDIANTE?</a:t>
            </a:r>
            <a:r>
              <a:rPr lang="es-CR" dirty="0">
                <a:solidFill>
                  <a:schemeClr val="accent5">
                    <a:lumMod val="50000"/>
                  </a:schemeClr>
                </a:solidFill>
                <a:latin typeface="Arial" charset="0"/>
                <a:cs typeface="Arial" charset="0"/>
              </a:rPr>
              <a:t/>
            </a:r>
            <a:br>
              <a:rPr lang="es-CR" dirty="0">
                <a:solidFill>
                  <a:schemeClr val="accent5">
                    <a:lumMod val="50000"/>
                  </a:schemeClr>
                </a:solidFill>
                <a:latin typeface="Arial" charset="0"/>
                <a:cs typeface="Arial" charset="0"/>
              </a:rPr>
            </a:br>
            <a:endParaRPr lang="es-CR" b="1" dirty="0">
              <a:solidFill>
                <a:schemeClr val="accent5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59395" name="8 CuadroTexto"/>
          <p:cNvSpPr txBox="1">
            <a:spLocks noChangeArrowheads="1"/>
          </p:cNvSpPr>
          <p:nvPr/>
        </p:nvSpPr>
        <p:spPr bwMode="auto">
          <a:xfrm>
            <a:off x="611636" y="1583791"/>
            <a:ext cx="6768676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4013" indent="-354013"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itchFamily="2" charset="2"/>
              <a:buChar char="v"/>
            </a:pPr>
            <a:r>
              <a:rPr lang="es-CR" sz="1400" dirty="0">
                <a:solidFill>
                  <a:srgbClr val="000000"/>
                </a:solidFill>
              </a:rPr>
              <a:t>Le permite al docente evaluar de manera </a:t>
            </a:r>
            <a:r>
              <a:rPr lang="es-CR" sz="1400" b="1" dirty="0">
                <a:solidFill>
                  <a:srgbClr val="000000"/>
                </a:solidFill>
              </a:rPr>
              <a:t>más objetiva</a:t>
            </a:r>
            <a:r>
              <a:rPr lang="es-CR" sz="1400" dirty="0">
                <a:solidFill>
                  <a:srgbClr val="000000"/>
                </a:solidFill>
              </a:rPr>
              <a:t>, pues los criterios están explícitos, son conocidos.</a:t>
            </a:r>
          </a:p>
          <a:p>
            <a:pPr marL="354013" indent="-354013"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itchFamily="2" charset="2"/>
              <a:buChar char="v"/>
            </a:pPr>
            <a:r>
              <a:rPr lang="es-CR" sz="1400" dirty="0">
                <a:solidFill>
                  <a:srgbClr val="000000"/>
                </a:solidFill>
              </a:rPr>
              <a:t>Enfoca a la persona docente para que determine de </a:t>
            </a:r>
            <a:r>
              <a:rPr lang="es-CR" sz="1400" b="1" dirty="0">
                <a:solidFill>
                  <a:srgbClr val="000000"/>
                </a:solidFill>
              </a:rPr>
              <a:t>manera específica los indicadores </a:t>
            </a:r>
            <a:r>
              <a:rPr lang="es-CR" sz="1400" dirty="0">
                <a:solidFill>
                  <a:srgbClr val="000000"/>
                </a:solidFill>
              </a:rPr>
              <a:t>con los cuales va a evaluar y documentar el progreso del estudiante.</a:t>
            </a:r>
          </a:p>
          <a:p>
            <a:pPr marL="354013" indent="-354013"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itchFamily="2" charset="2"/>
              <a:buChar char="v"/>
            </a:pPr>
            <a:r>
              <a:rPr lang="es-CR" sz="1400" dirty="0">
                <a:solidFill>
                  <a:srgbClr val="000000"/>
                </a:solidFill>
              </a:rPr>
              <a:t>Permite al  docente</a:t>
            </a:r>
            <a:r>
              <a:rPr lang="es-CR" sz="1400" b="1" dirty="0">
                <a:solidFill>
                  <a:srgbClr val="000000"/>
                </a:solidFill>
              </a:rPr>
              <a:t> describir </a:t>
            </a:r>
            <a:r>
              <a:rPr lang="es-CR" sz="1400" dirty="0">
                <a:solidFill>
                  <a:srgbClr val="000000"/>
                </a:solidFill>
              </a:rPr>
              <a:t>cualitativamente los distintos </a:t>
            </a:r>
            <a:r>
              <a:rPr lang="es-CR" sz="1400" b="1" dirty="0">
                <a:solidFill>
                  <a:srgbClr val="000000"/>
                </a:solidFill>
              </a:rPr>
              <a:t>niveles de logro </a:t>
            </a:r>
            <a:r>
              <a:rPr lang="es-CR" sz="1400" dirty="0">
                <a:solidFill>
                  <a:srgbClr val="000000"/>
                </a:solidFill>
              </a:rPr>
              <a:t>que la persona estudiante debe alcanzar.</a:t>
            </a:r>
          </a:p>
          <a:p>
            <a:pPr marL="354013" indent="-354013"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itchFamily="2" charset="2"/>
              <a:buChar char="v"/>
            </a:pPr>
            <a:r>
              <a:rPr lang="es-CR" sz="1400" dirty="0">
                <a:solidFill>
                  <a:srgbClr val="000000"/>
                </a:solidFill>
              </a:rPr>
              <a:t>Aclaran a la persona estudiante los </a:t>
            </a:r>
            <a:r>
              <a:rPr lang="es-CR" sz="1400" b="1" dirty="0">
                <a:solidFill>
                  <a:srgbClr val="000000"/>
                </a:solidFill>
              </a:rPr>
              <a:t>criterios </a:t>
            </a:r>
            <a:r>
              <a:rPr lang="es-CR" sz="1400" dirty="0">
                <a:solidFill>
                  <a:srgbClr val="000000"/>
                </a:solidFill>
              </a:rPr>
              <a:t>que se van a utilizar al evaluar su trabajo.</a:t>
            </a:r>
          </a:p>
          <a:p>
            <a:pPr marL="354013" indent="-354013"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itchFamily="2" charset="2"/>
              <a:buChar char="v"/>
            </a:pPr>
            <a:r>
              <a:rPr lang="es-CR" sz="1400" dirty="0">
                <a:solidFill>
                  <a:srgbClr val="000000"/>
                </a:solidFill>
              </a:rPr>
              <a:t>Indican con </a:t>
            </a:r>
            <a:r>
              <a:rPr lang="es-CR" sz="1400" b="1" dirty="0">
                <a:solidFill>
                  <a:srgbClr val="000000"/>
                </a:solidFill>
              </a:rPr>
              <a:t>claridad al estudiante </a:t>
            </a:r>
            <a:r>
              <a:rPr lang="es-CR" sz="1400" dirty="0">
                <a:solidFill>
                  <a:srgbClr val="000000"/>
                </a:solidFill>
              </a:rPr>
              <a:t>las áreas en las que tienen deficiencias y con esto planear con el docente los correctivos a aplicar.</a:t>
            </a:r>
          </a:p>
          <a:p>
            <a:pPr marL="354013" indent="-354013"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itchFamily="2" charset="2"/>
              <a:buChar char="v"/>
            </a:pPr>
            <a:r>
              <a:rPr lang="es-CR" sz="1400" dirty="0">
                <a:solidFill>
                  <a:srgbClr val="000000"/>
                </a:solidFill>
              </a:rPr>
              <a:t>Proveen al  docente </a:t>
            </a:r>
            <a:r>
              <a:rPr lang="es-CR" sz="1400" b="1" dirty="0">
                <a:solidFill>
                  <a:srgbClr val="000000"/>
                </a:solidFill>
              </a:rPr>
              <a:t>información de retorno </a:t>
            </a:r>
            <a:r>
              <a:rPr lang="es-CR" sz="1400" dirty="0">
                <a:solidFill>
                  <a:srgbClr val="000000"/>
                </a:solidFill>
              </a:rPr>
              <a:t>sobre la efectividad del proceso de enseñanza que está utilizando.</a:t>
            </a:r>
          </a:p>
          <a:p>
            <a:pPr marL="354013" indent="-354013" algn="just"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itchFamily="2" charset="2"/>
              <a:buChar char="v"/>
            </a:pPr>
            <a:r>
              <a:rPr lang="es-CR" sz="1400" dirty="0">
                <a:solidFill>
                  <a:srgbClr val="000000"/>
                </a:solidFill>
              </a:rPr>
              <a:t>Reducen al </a:t>
            </a:r>
            <a:r>
              <a:rPr lang="es-CR" sz="1400" b="1" dirty="0">
                <a:solidFill>
                  <a:srgbClr val="000000"/>
                </a:solidFill>
              </a:rPr>
              <a:t>mínimo la subjetividad </a:t>
            </a:r>
            <a:r>
              <a:rPr lang="es-CR" sz="1400" dirty="0">
                <a:solidFill>
                  <a:srgbClr val="000000"/>
                </a:solidFill>
              </a:rPr>
              <a:t>en la evaluación y ayudan a mantener el logro de los objetivos de aprendizaje propuestos.</a:t>
            </a:r>
          </a:p>
        </p:txBody>
      </p:sp>
      <p:pic>
        <p:nvPicPr>
          <p:cNvPr id="2" name="voz">
            <a:hlinkClick r:id="" action="ppaction://media"/>
            <a:extLst>
              <a:ext uri="{FF2B5EF4-FFF2-40B4-BE49-F238E27FC236}">
                <a16:creationId xmlns:a16="http://schemas.microsoft.com/office/drawing/2014/main" xmlns="" id="{0FD549B4-1067-46CB-9A06-47C0C4C1E1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7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86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476672"/>
            <a:ext cx="4752528" cy="1157536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R" sz="3600" dirty="0">
                <a:latin typeface="Arial" pitchFamily="34" charset="0"/>
                <a:cs typeface="Arial" pitchFamily="34" charset="0"/>
              </a:rPr>
              <a:t/>
            </a:r>
            <a:br>
              <a:rPr lang="es-CR" sz="3600" dirty="0">
                <a:latin typeface="Arial" pitchFamily="34" charset="0"/>
                <a:cs typeface="Arial" pitchFamily="34" charset="0"/>
              </a:rPr>
            </a:br>
            <a:r>
              <a:rPr lang="es-CR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¿Qué es un indicador? </a:t>
            </a:r>
            <a:r>
              <a:rPr lang="es-ES" sz="3600" b="1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s-ES" sz="3600" b="1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s-ES" sz="3600" b="1" dirty="0">
              <a:solidFill>
                <a:schemeClr val="accent4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42" name="2 Marcador de contenido"/>
          <p:cNvSpPr>
            <a:spLocks noGrp="1"/>
          </p:cNvSpPr>
          <p:nvPr>
            <p:ph idx="1"/>
          </p:nvPr>
        </p:nvSpPr>
        <p:spPr>
          <a:xfrm>
            <a:off x="395536" y="1268760"/>
            <a:ext cx="8352928" cy="5256584"/>
          </a:xfrm>
        </p:spPr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None/>
              <a:tabLst>
                <a:tab pos="8245475" algn="l"/>
              </a:tabLst>
              <a:defRPr/>
            </a:pPr>
            <a:r>
              <a:rPr lang="es-ES" sz="1800" dirty="0"/>
              <a:t>Es una descripción de </a:t>
            </a:r>
            <a:r>
              <a:rPr lang="es-ES" sz="1800" dirty="0">
                <a:solidFill>
                  <a:srgbClr val="CC6600"/>
                </a:solidFill>
              </a:rPr>
              <a:t>conductas observables </a:t>
            </a:r>
            <a:r>
              <a:rPr lang="es-ES" sz="1800" dirty="0"/>
              <a:t>que proporcionan de forma indirecta información necesaria para llevar a cabo el proceso evaluador.  Sirven de referente para valorar los aprendizajes adquiridos  y describen niveles de logro, habilidades, destrezas y actitudes.</a:t>
            </a:r>
          </a:p>
          <a:p>
            <a:pPr marL="0" indent="0" algn="ctr">
              <a:buNone/>
            </a:pPr>
            <a:endParaRPr lang="es-CR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s-CR" sz="2000" b="1" dirty="0">
                <a:solidFill>
                  <a:schemeClr val="accent6">
                    <a:lumMod val="50000"/>
                  </a:schemeClr>
                </a:solidFill>
              </a:rPr>
              <a:t>Ejemplo:   </a:t>
            </a:r>
          </a:p>
          <a:p>
            <a:pPr marL="0" indent="0" algn="ctr">
              <a:buNone/>
            </a:pPr>
            <a:endParaRPr lang="es-CR" sz="2000" b="1" dirty="0">
              <a:solidFill>
                <a:srgbClr val="FFCC00"/>
              </a:solidFill>
            </a:endParaRP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685868"/>
              </p:ext>
            </p:extLst>
          </p:nvPr>
        </p:nvGraphicFramePr>
        <p:xfrm>
          <a:off x="611560" y="3284984"/>
          <a:ext cx="7776864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R" sz="1800" b="1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b="1" dirty="0"/>
                        <a:t>Segundo nivel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b="1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Unidad “Conocimiento de sí mismo”</a:t>
                      </a:r>
                      <a:endParaRPr lang="es-CR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R" sz="1800" b="1" dirty="0"/>
                    </a:p>
                    <a:p>
                      <a:pPr algn="l"/>
                      <a:endParaRPr lang="es-C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0968">
                <a:tc>
                  <a:txBody>
                    <a:bodyPr/>
                    <a:lstStyle/>
                    <a:p>
                      <a:pPr lvl="0" algn="just"/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Identifica</a:t>
                      </a:r>
                      <a:r>
                        <a:rPr lang="es-CR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partes del cuerpo como las siguientes: </a:t>
                      </a:r>
                      <a:r>
                        <a:rPr lang="es-CR" sz="18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cabeza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ojos, nariz, boca, orejas </a:t>
                      </a:r>
                      <a:r>
                        <a:rPr lang="es-CR" sz="18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tronco: 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hombros, pecho, ombligo, </a:t>
                      </a:r>
                      <a:r>
                        <a:rPr lang="es-CR" sz="18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extremidades superiores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brazos, manos, dedos,</a:t>
                      </a:r>
                      <a:r>
                        <a:rPr lang="es-CR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R" sz="18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extremidades inferiores</a:t>
                      </a:r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piernas, pies, dedos. </a:t>
                      </a:r>
                      <a:endParaRPr lang="es-CR" sz="1600" dirty="0">
                        <a:effectLst/>
                      </a:endParaRPr>
                    </a:p>
                    <a:p>
                      <a:endParaRPr lang="es-CR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3" name="voz">
            <a:hlinkClick r:id="" action="ppaction://media"/>
            <a:extLst>
              <a:ext uri="{FF2B5EF4-FFF2-40B4-BE49-F238E27FC236}">
                <a16:creationId xmlns:a16="http://schemas.microsoft.com/office/drawing/2014/main" xmlns="" id="{16B6E4CE-FCFC-4016-8170-67CC1E2EDB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045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7403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024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75656" y="260648"/>
            <a:ext cx="6286544" cy="1000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ES" sz="2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Características de los indicadores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3" y="1355229"/>
            <a:ext cx="8208885" cy="5098107"/>
          </a:xfrm>
        </p:spPr>
        <p:txBody>
          <a:bodyPr rtlCol="0">
            <a:normAutofit fontScale="25000" lnSpcReduction="20000"/>
          </a:bodyPr>
          <a:lstStyle/>
          <a:p>
            <a:pPr marL="542925" indent="-361950" algn="just">
              <a:lnSpc>
                <a:spcPct val="120000"/>
              </a:lnSpc>
              <a:defRPr/>
            </a:pPr>
            <a:endParaRPr lang="es-CR" sz="6400" dirty="0">
              <a:latin typeface="Arial" pitchFamily="34" charset="0"/>
              <a:cs typeface="Arial" pitchFamily="34" charset="0"/>
            </a:endParaRPr>
          </a:p>
          <a:p>
            <a:pPr marL="355600" indent="-355600" algn="just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lang="es-CR" sz="6400" dirty="0">
                <a:latin typeface="Arial" pitchFamily="34" charset="0"/>
                <a:cs typeface="Arial" pitchFamily="34" charset="0"/>
              </a:rPr>
              <a:t>Ser  congruentes con la naturaleza de la asignatura, las habilidades y destrezas que se pretende desarrollar en  los estudiantes.</a:t>
            </a:r>
            <a:endParaRPr lang="es-ES" sz="6400" dirty="0">
              <a:latin typeface="Arial" pitchFamily="34" charset="0"/>
              <a:cs typeface="Arial" pitchFamily="34" charset="0"/>
            </a:endParaRPr>
          </a:p>
          <a:p>
            <a:pPr marL="355600" indent="-355600" algn="just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lang="es-CR" sz="4800" dirty="0">
                <a:latin typeface="Arial" pitchFamily="34" charset="0"/>
                <a:cs typeface="Arial" pitchFamily="34" charset="0"/>
              </a:rPr>
              <a:t> </a:t>
            </a:r>
            <a:r>
              <a:rPr lang="es-ES" sz="6400" dirty="0">
                <a:latin typeface="Arial" pitchFamily="34" charset="0"/>
                <a:cs typeface="Arial" pitchFamily="34" charset="0"/>
              </a:rPr>
              <a:t>Referirse a conductas claramente observables y </a:t>
            </a:r>
            <a:r>
              <a:rPr lang="es-CR" sz="6400" dirty="0">
                <a:latin typeface="Arial" pitchFamily="34" charset="0"/>
                <a:cs typeface="Arial" pitchFamily="34" charset="0"/>
              </a:rPr>
              <a:t>responder a los aprendizajes propuestos..</a:t>
            </a:r>
            <a:endParaRPr lang="es-ES" sz="6400" dirty="0">
              <a:latin typeface="Arial" pitchFamily="34" charset="0"/>
              <a:cs typeface="Arial" pitchFamily="34" charset="0"/>
            </a:endParaRPr>
          </a:p>
          <a:p>
            <a:pPr marL="355600" indent="-355600" algn="just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lang="es-CR" sz="4800" dirty="0">
                <a:latin typeface="Arial" pitchFamily="34" charset="0"/>
                <a:cs typeface="Arial" pitchFamily="34" charset="0"/>
              </a:rPr>
              <a:t> </a:t>
            </a:r>
            <a:r>
              <a:rPr lang="es-CR" sz="6400" dirty="0">
                <a:latin typeface="Arial" pitchFamily="34" charset="0"/>
                <a:cs typeface="Arial" pitchFamily="34" charset="0"/>
              </a:rPr>
              <a:t>Redactarse en forma clara, precisa y comprensible, de manera que den lugar a una única interpretación. </a:t>
            </a:r>
          </a:p>
          <a:p>
            <a:pPr marL="355600" indent="-355600" algn="just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lang="es-CR" sz="6400" dirty="0">
                <a:latin typeface="Arial" pitchFamily="34" charset="0"/>
                <a:cs typeface="Arial" pitchFamily="34" charset="0"/>
              </a:rPr>
              <a:t>Hacer mención a un único aspecto por observar.</a:t>
            </a:r>
          </a:p>
          <a:p>
            <a:pPr marL="355600" indent="-355600" algn="just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lang="es-CR" sz="6400" dirty="0">
                <a:latin typeface="Arial" pitchFamily="34" charset="0"/>
                <a:cs typeface="Arial" pitchFamily="34" charset="0"/>
              </a:rPr>
              <a:t>Se redactan en tercera persona del singular presente. </a:t>
            </a:r>
          </a:p>
          <a:p>
            <a:pPr marL="355600" indent="-355600" algn="just">
              <a:lnSpc>
                <a:spcPct val="170000"/>
              </a:lnSpc>
              <a:buFont typeface="Wingdings" panose="05000000000000000000" pitchFamily="2" charset="2"/>
              <a:buChar char="Ø"/>
              <a:defRPr/>
            </a:pPr>
            <a:r>
              <a:rPr lang="es-CR" sz="6400" dirty="0">
                <a:latin typeface="Arial" pitchFamily="34" charset="0"/>
                <a:cs typeface="Arial" pitchFamily="34" charset="0"/>
              </a:rPr>
              <a:t>Cuando se trata de autoevaluación la acción va en primera persona</a:t>
            </a:r>
          </a:p>
          <a:p>
            <a:endParaRPr lang="es-CR" sz="5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indent="-363538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CR" sz="5600" strike="sngStrike" dirty="0">
              <a:latin typeface="Arial" pitchFamily="34" charset="0"/>
              <a:cs typeface="Arial" pitchFamily="34" charset="0"/>
            </a:endParaRPr>
          </a:p>
          <a:p>
            <a:pPr marL="363538" indent="-363538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ES" sz="5600" dirty="0">
              <a:latin typeface="Arial" pitchFamily="34" charset="0"/>
              <a:cs typeface="Arial" pitchFamily="34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CR" sz="5600" dirty="0">
                <a:latin typeface="Arial" pitchFamily="34" charset="0"/>
                <a:cs typeface="Arial" pitchFamily="34" charset="0"/>
              </a:rPr>
              <a:t>  </a:t>
            </a:r>
          </a:p>
          <a:p>
            <a:pPr marL="90488" indent="19050" algn="just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s-CR" sz="5600" dirty="0">
              <a:latin typeface="Arial" pitchFamily="34" charset="0"/>
              <a:cs typeface="Arial" pitchFamily="34" charset="0"/>
            </a:endParaRPr>
          </a:p>
          <a:p>
            <a:pPr marL="90488" indent="19050" algn="just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s-CR" sz="5600" dirty="0">
              <a:latin typeface="Arial" pitchFamily="34" charset="0"/>
              <a:cs typeface="Arial" pitchFamily="34" charset="0"/>
            </a:endParaRPr>
          </a:p>
          <a:p>
            <a:pPr marL="90488" indent="19050" algn="just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s-CR" dirty="0">
              <a:latin typeface="Arial" pitchFamily="34" charset="0"/>
              <a:cs typeface="Arial" pitchFamily="34" charset="0"/>
            </a:endParaRPr>
          </a:p>
          <a:p>
            <a:pPr marL="90488" indent="19050" algn="just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s-CR" dirty="0">
              <a:latin typeface="Arial" pitchFamily="34" charset="0"/>
              <a:cs typeface="Arial" pitchFamily="34" charset="0"/>
            </a:endParaRPr>
          </a:p>
          <a:p>
            <a:pPr marL="90488" indent="19050" algn="just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s-ES" dirty="0"/>
          </a:p>
          <a:p>
            <a:pPr marL="365760" indent="-256032" algn="just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s-ES" dirty="0"/>
          </a:p>
        </p:txBody>
      </p:sp>
      <p:sp>
        <p:nvSpPr>
          <p:cNvPr id="4" name="AutoShape 2" descr="data:image/jpeg;base64,/9j/4AAQSkZJRgABAQAAAQABAAD/2wCEAAkGBwgHBgkIBwgKCgkLDRYPDQwMDRsUFRAWIB0iIiAdHx8kKDQsJCYxJx8fLT0tMTU3Ojo6Iys/RD84QzQ5OjcBCgoKDQwNGg8PGjclHyU3Nzc3Nzc3Nzc3Nzc3Nzc3Nzc3Nzc3Nzc3Nzc3Nzc3Nzc3Nzc3Nzc3Nzc3Nzc3Nzc3N//AABEIAH8AqQMBIgACEQEDEQH/xAAcAAACAgMBAQAAAAAAAAAAAAAEBQMGAAIHAQj/xABCEAACAQMDAgMGAgcGAwkAAAABAgMABBEFEiETMQZBUSIyYXGBkRShFSNCUrHB0TNTcpKy8CTS4QcWNFVjgpOUov/EABgBAAMBAQAAAAAAAAAAAAAAAAABAgME/8QAIBEAAgICAwADAQAAAAAAAAAAAAECERIxAyFBIzJRIv/aAAwDAQACEQMRAD8AqNvYi8/4eJiHgGVEi4cc4xj5efnn1Fdl8PJFb2hbaN2ewGB6nj51zODR5luxqVrcx3zOwLlZMF+ftngVetF8TafbR9LUI5bWYnvKmUPyYd6SkgLYFklwXOxM4xnvyD/sCpJuFUUttNUW+1BYLQrJEYjIZkYMO5GMjt5VF4i1uDS12syBwM+0eFz61UWhMLvEDCEtIiIsod9xxuAB4++PtXNtbu9a17ENyI47ZGPuc+fmw70TeeJoLmJppbl2BbaSqkhVr23v01CJYtGZHkA3BJCUAA5LeuO3asZzt0NaCNL8ERvphnIgbeBgO2Tj6e7+f0pZc+Hr7SJOrpsskLYIAzjI+BHBHwpzouozwSz2t7H0mQ5lj3ZAz2cH0P8AvNOE1S0kQjOFPJDL7J+hrN4tDKQ+ryTTCPU4ejNjaZAMZHxFXXw94hGjwokrG8s5e0sbZMZAAxg/AUovZdI1GOZI0y6DiPg5PyzlaQto81n/AMRbXBhUtjkMyjz5wDj5kYpLJAdq03VLPU1d7KUSKuASAR3GfOjQQe1cUh16SB4RMHs7iL2VniOA48vmPy+FdL8J39zqFm9xcXUNypICPFjHbnitocil0BYaytAazk1oI9LYrzfXhQ1r02oAkU5ratVGO9bUAZWVlZQBlZWVlAHySsl/ZJHdLM4LgYKsQ/3HNWTRvGKLB0NVAnJPJYBW/wAPba3n3xQ0tvDaFVuBiLpoSzZwCc8ZoRbWG7kdHUgH3G2jGPmCRXPYx9FrWhuxlhknsJt+5Zo2CkdsZ2k47emKyfX9Ihm/F6jcTa3fscqzkCNAOx7YHHoDVQubAQ2kioMyhyFPkQD5VNoOjSX+HuDtTP7VTkkgLS3jyB0KHToBGwzgSn/lozS/GVkJIcWywvGNn6s5BX07A/HgGlk3hKNbQsCp7kDb86Xz6PJNbxfhoiki46nIzj1qM/waRe783eoyC+04xhPw39mwLdQd/hz9KXQ9eS1DNZQR3D5Yy7yr/H3ecfOqbC2pw3MmGAeBMjuPZ+GPP5c1b/Clzf6orb41kSNQqF8ez3zjjP3zVJq+wYbZ6ZqIszGTYySIcruGJB8QcD19KYaTBdyRzC6fMvuptVWXPtZ4HGPTtyTR0drfLkRtFG2P2Vzn1zWgS9gEpmlVW3eyETgeZyccDnz+9VGSsAW7sbRz0JT0xhcqEGOR3x88098DeGYbO6ku4ru4UKRiOGQCKQc+8uMn60p1iyiv5FSOZUuFXeFZQyH0yD3zz2NF+EvEfQ1GLT7qDozMAmADjb5EE9xVKshHRgtejFYDUUb5nkQjtgj41uImrKysoAysrK8JoA9rK0ZwBULTD1oAnLYrXfQjzHyNadVqpRFZxXULWVo5Wt0BlwioCRyRjPf5mlUGmNOZWntvw7xLneAVOfSmOsWkMqtI6OzGTbw5AwM+X0paHvNOnBsIhJCR+shd8Y9WH0xXO4/zYWL5dQWUrbSgSyqxG8gqcE4w39aL8LyGfVtgO1IQWWMefqT8v50p1/Ykokg34KbmjxjYTnOeMH7+tT6HqVlplw13cyZm2bUjzjOfU+VYvjsDpTr+oUfClupRiMpsmWORjwCAd2API/y5qGDxHBJBErQytKykuIwCq/Ws1WS3v4IpY8NG+7uPMAcfenGFuiro9XR47m76kpyeiu4jIB/P8qfWe2KecIwjVYlA2/s9/KoNPj2NsAxtt1XjjstKGludMS9neTrIQqq8nGPa58uRj1qK7pDLKkjyWs5beeQVAJzipEbbYod597nz8u3NVqLxHv0aW6XpoElVPabKt68/atpPEG7Sbe4Lwxb2dghPDqPP75q8GFj+6gtpBCrrskwNk0fHOe350Be2s7SBXfp3UGWhnHfH8MeRHxolJxI1oZZkEwjVmXHcGjI1D9SOQhkByA3JXn+FJWgB9B8c3sNydL1C2H4yVtyy54IPHb6U1PiWa0mkvZnzCDygTOVz8BnPf5VSNVvNEttZma7ErTAj2cnC+fBJHrW1vrugwXhlg6qk4z7Xsj6A/wAqpzfgUdpsrmK8tY7iBt0cihlNSlsVWfANykuiJGt5BNtY7FThlXyyM5qyMMng10xdqyWatIfKtCZGHFai4thdfhTMpn27igPIH+zUs08cELSyMFRRlj6Cn0AO0UreeKxbUn3jQl3r+mw+7cpIfWP2wOR6eff7V7p/iCzvJjEG6TFsRiTjqDyI/p3ozQqDBZjPet/wiepogVlO2FHzG3iVyqGSDeVYtvjOVYfX61k2r6dqMckF5I8E+3KNjYUYZ8+e/FLm1y3lkzLE6DP7OGA+lR3LaNcxkmQRsDkELtPyxWCbqh0LJ3uI0kZbh5IfdbLnJzye/lxUmkJbLcB9QcBEOSPNvhQ0rOXZYnV4VJ2j4E5ojTLi1gnUyxdRfPdnmh6Av8HiPR4rcCFcADGBHRVzd297tNqpG1SSu3GM48vvVYjm0QRQySbEk3Y2xkk48sjHpT6OLTJwv4O+jdQnsBpQrL8OcGs03F2OrLPaSL1ZyrKXWIEDd54oZQXiklXajjAOURgcn0IPkfvSdLG2hh1B4pWM8dv1EUzHPC+me1GQSXltF0nRZ9+xuqmVzxn41C3YxfqU9uFNjc6eJMur4trcBTnjJ3HgntxQOtWaXenWsdlFPEtvvXp7DuTOD58Y575orXJLp4km09HjnDKSGUFSoyc/PJH515pU1udVZphL1G3AyScKWyMEDP5fGt1VCYReao0ep2uyG6eKPYzLGgPUGARzn61YYL2aNp3ZQ46e9QgwTknjB7YxVclmuH8UwWcUiC36ULMCuT6Hn6Cn8UDJcSB5pmXaTh5CwAyO2aU6oAO80m3vNQNzPGQ8iDI4ofUPDlsrSmMBY5Ew47nPHIp8+DOrAYDLmtr+PqwyKGAyn9K50rY7KfoEdro2op+KuZIrxc9B5MmPHIycEEHjvXTLHxa82oxSSlHtREyyNaP1k3Z4bA5H51QPEVit0se6ISbyyjkAjzyPvSV9PuLSc/grmeDC5kCkqMj07VpGTiGzp73zG7jvZpfxB374nI2kL5CrXN1b7Si9pMsTSxkqXXP0IzXMvCN1f3VtKNTuo2ABVYzH7RA/a3fOt08aKtwIUvDbmGJ4wlzHhTkgcEc9x5g1pCdCoM/QF45aG71vZuwQlsm0gfXNTp4cnsJ7S60zVJjLG2GE6784PfHrz8qAW76xdrjplDj9azmReQe5B4+uKkuLlzZNApuZI/ZKPGhyuO4BAPcevpUKgLS+rytFiWeUr2MisACf/bzWv6XP97P95aq2nCb9LxQwGF4Y1/WYLblXnyJwOcVZsfCquT9KVHzg9uF9pvdJrSW1KIGGdtOPw0cqe/G3BPccmo5LfanTLKVYcDPal2SKjH05W2jdiNjW0No5AABPGfypjFaruuN3uxp/MUdYKJ9kijapVhjHpQ26AWnTXjeEtlQzLkk/EU1bSplcm1lbpfs7uQab3FssscayDOAv+oU3maGy6SPG5QgH2F4UeprLtlFHhhvovxkwcjpL7QBOWGOwpnpXiG4tl9pYp9+DiV8sMDgd6b3mlow1GRjyFGfT0qi3U9jHc9NN7IjEMyjjP86FkwL7D4kifHXsWxzzHISPj7wqN9S0x7y26cLqrBlkyoIUY9B38vtVYTS8lLiEmSJomcFPhitrqGazRi8x5QEbznbTi3dA9F4WPTGkElvdxJKPdO/Y3/6FE9G8jVpIZTIm0jGA2R9K52hvYijdRem6k7sDB+1evNeQzqTHhvIpkZ4qcv0dF4m1O5g6BkiRS/Cgtihb7xFqc0qwWlokbmPOC4csMc4FVb9J3cmyNo5H2NhMsTtOKMWDUYrmG4GFkWPhiTz8O2KaaXYqLfaatbGCOO6ilQs4AkdNqZI55Pasvrm2gguJp1TChEAQgM4KD545qo3Oq3T2bQ3yQ9IuAol7M2M4wKS2+qPNdRwpILSPP9o2X2D6k/KtIq1YmdXtIY0jEJhTp712oR7uc+nwFKdX0ZLqTqdFWGzO0H9og0NpeuxyPFbi7t3BZRG7buSo8z29fSnE9xcLCepbhlI2q0DbxnHxANHgdlSk0u5sxmzmliI2rhT7JbGTx/vmi7BNfvocPqs6YHdSMefl9qdTX1q5JaQoOo39opXjHxofTNQs4XZTcJjP73yqWBtpsF9ZXVq0TLLNcKVuJJwZMENxjHwI71cOnef36f5KrCTRXE7GGSBlGGUyHC5yOcjByMcU/wDxcX9/F/nH9atUBwO4A682Bjlv40fo8CtC0jD2hIAD9qXtl2lYDk5P5030mNzYpsJBMvp8/wCla8n1JRu6CM3JHvSAqRj40XoALwANk4D8n50vmciYCQ91YkmmfhxQIFBxnB/1Vm/qMfuoMkY/w/xqLVZ5v0kIkmAUPEhQ+YIkJ8vPA+1bTiRpoViYqcjkAfH1qLVLWdtX6pPs9SEn2gOAjgnHzYVENsYx1PL6bq7ZwRCG7emDXIgpx2IrrGodT9Ga4xI6X4d/Lkez61ydwu3y7/lWnD6Jl68Hbm0l1YEhVlVfypb4lJbWdRTJIW1AXzxwppx4H50RiP3psfYUj8SE/wDeXVhnH/Cj/QlTxr5GD0H+Dv1+mzwyDcse/bkdgRSnxK8v6cuSrYMUm2PB92nX/Z//AOAvcnP6w/6KTeLCF1e+AYbjNjvz5URXyMfhZbOJblLK7VRufBbHrhas11EggRygZo4yy7vUA0i0cD9EaYeM9Jf4CrBfFvwoVB70bA/AYNYJLIZXNet/xFtFJHBFJNORvDDKqcd+frSW10SWK+xCyy25wHyMDkZyKsGqhmsLQNHkBl5B88c0LFsOu3DBMkRFcAf4a1WhMXahpMuyNrcdNj3I49PKo7Cyu1dm60iOCCpjwDimUSiSDTCAfecnHmfv8Kyxbd0OJDmWQHJ94jP9KMWFkfU1ZVx+MkcH99MjntUVhJqxZ1jk2Ozk+5kH4n07UbFva2Yb5SehFglj33kk/X1oxLiKGRnwe/u58+f61EpY7YWD9TWYhHJMsMyiTpAtGcjv6c+ferTu/wDTh/8AjP8AzUiub5kLDqMBt91cFQ/r86B/Szf+Yy/5ab5oxGkn6Ut7R0iaQj2cc4NZDfT2xjghC7QQ/Px5/nU897HHHHHCS1wwwxkwFBJ4/l3qwXWmaMNJaaNZjelc/i2m9ksM8FewBxgH5V1bE0VKa8maUvxu7UXYapqESMYok2IBztOOT2zS2VwCWwc+WadaTrLi9SBTsstjAxNznIxx5Z+PzopAk26QTHr+pG9jzDF7POBnnANN312+lPVeyt844/WNWkemabA9vLd9ZzHvSVQRy2cAgjgAD7mlRvEi1O5huHHRjyAVYYwKiog1QdFrd5fafqcUyW6rKGDKXIYjHIHFUnGUBK+xv+tXmSys7eAmDqTNId29/Z3Bh5AccY/Oi4dG0i78P3kz2Bhk2pGGjY7o+n2KjzLYw2c888VpGKTpDlFpWVnQdSubW16cBVYsSMc5zzipZ7e7unk1KeE7bu2ZS24e9jgY9cD6040MafbxXMMunifqgLCVcq8JCk5B/a79j6UJKkqxCG6jlAWX9X00yHYd/h50OOLF4B6D1onWSBjFFOBHhMFi2CCcZzjj86g8RIWvZlfaZidzHGD9c/Kt7SE6TqkMs0TGFZtoO4BxkcHFF609u+vxdeb9RcRsN2M7Sc4zj+I9aTS2BmnT6m1jGbfe0UKrgrHlUHxppJqepJcxQz3gRo8dRTEAVyPP6VDaJLaRtAYigVtqlCWVhjB78j0oVpW1dLmz6covCOpLuYANhdqj4HGBknyqKi9FVWwe71243Is1wksbEOFAGAQfUUw8OLc6m19KkNxNcqgkVoHRSgPHtbiMjgcD40mttCvTaiZ4WUPIFDEjAXByaaaTYT6XIZUuiI2ASRVf3lz24obitdip2bTTCKTpG6wBGQqoT+rk5A8vOjbeCEW9+13Jc2c0UBeFZFYZYOVZgcjGSQMd+c0k/Q13d3y6fHvknaVWkPukqWzkj1G6j4LA6rqeo6ZFLNdWliCiyuc85IDHOOScn71TjXY6skuI7mS1huLQA2UpIWUZOdp2n5DNB2yzNdKJom2j3zk9/I/Gm93YtFYRwhCiQxjYCAuQO47/AO+aQzO8PtZYopwSDyOK4+RNvpGckMdSmPTPUXbjgkk8/E0g3xf30X+dqJjv3c7CA4HkVrzpH98fdaE6+wkhbLAYrrEkfBfght3s55/Kj7oyTJJbwyzC1DfqlwSGXPHA+lNbOwd4EvYWTqtEF2sMhcfbvUaiOC5gnvCsfTzuAJJOfIYHwruaLWhGdPw2JJmUnyaPH8aCvEjjmPSbKgjufyq+pe2c6H8NBNL/AIFUfxIqq6jZkGV4YcJYnfN1MbiWb4d6mEX6xp46DbDUTIyRW0IaORCRu3FvPOPzqR9OlSF5XsziNCSxx2A/pWW9q13I0tvHBEygC3WNcBSGPI7Y/wCtWqfT5r+2khuL+YJKhVljVFBB4I7H+NTKEWw7eyu+GltLCFhrBuDC9obm0ijOFL92JPcY9k4FQaNLa3DOt9fIjtIrRyNwzAkjCnyPbyphr2hx2+n2sIllkkLpbwtJITsDYB47DgUsvdE/B69AGtlMFw6iIK/ubWBP12hvqa0VFZtRcQ/Tp7pbmOS6eWTpsELswJGRgYz86C8T2rWV8iLJOqyJv2u2PM+QNHaUkUz3FpdZXYrNvXuX/ZNQeNppJ7qxlljMTGHBUkE+8e+OPOo5dD49gmnpfv4gttOwBDOVkG/DEKV3Eg9xnBP1qDVLy1tdflll3yGOc4VRgAdicHIPA4+dNUvorDxLolxMoEZs4kLDvlty5rzWtOiuNP8AEOp7F3x3iBP8KnDffcfsKraVkvbLjHYDpWr2ZE0DYLM7gHp47qQO/atRo0Y1SWRYQttJabN2/LCTd35+B/Kj9JhS00yzt0bcsUKIGxjOAKL31BQn8OR4hdZC4KSsmx0xuIwNwz5cH705aOJ8BwCM+YzXm+vOpUxio6DZXpdMuW8Uy3jRMbWSMDeCMggL8fhXuiaTLpfiG9mQO1pdRKxd8A9TceAB5YPf40+MhqN5Tg44q3IO6oUeKbYNHHMGO0khsj3Rjgj8hVK12Gzt7eCWC69iSQbkBBxxwx/OrTrk/VjkVyfZO0/biqjfPaGz/D9MudpAcjnNcr5v7xozls9NvFPqGxLiMLFhSc5DAftAjy/hVi/Q1r++P/sf9aqEU8EkSJLERIFAZlxyfWpsW378n2py5Etomz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 dirty="0"/>
          </a:p>
        </p:txBody>
      </p:sp>
      <p:pic>
        <p:nvPicPr>
          <p:cNvPr id="5" name="voz">
            <a:hlinkClick r:id="" action="ppaction://media"/>
            <a:extLst>
              <a:ext uri="{FF2B5EF4-FFF2-40B4-BE49-F238E27FC236}">
                <a16:creationId xmlns:a16="http://schemas.microsoft.com/office/drawing/2014/main" xmlns="" id="{D54E17D9-E8FF-4316-A884-77531F288A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44208" y="519797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26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5593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D0BC68-F261-476F-88F4-439F2C36D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492" y="867546"/>
            <a:ext cx="7024744" cy="1143000"/>
          </a:xfrm>
        </p:spPr>
        <p:txBody>
          <a:bodyPr/>
          <a:lstStyle/>
          <a:p>
            <a:r>
              <a:rPr lang="es-CR" dirty="0"/>
              <a:t>Elementos de un indicador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55C75CD9-B720-4D56-AB0F-1F4BBCCE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36" y="2134193"/>
            <a:ext cx="6777317" cy="3508977"/>
          </a:xfrm>
        </p:spPr>
        <p:txBody>
          <a:bodyPr>
            <a:normAutofit fontScale="62500" lnSpcReduction="20000"/>
          </a:bodyPr>
          <a:lstStyle/>
          <a:p>
            <a:pPr marL="355600" indent="-355600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s-CR" dirty="0">
                <a:latin typeface="Arial" pitchFamily="34" charset="0"/>
                <a:cs typeface="Arial" pitchFamily="34" charset="0"/>
              </a:rPr>
              <a:t>Llevan una </a:t>
            </a:r>
            <a:r>
              <a:rPr lang="es-CR" b="1" dirty="0">
                <a:latin typeface="Arial" pitchFamily="34" charset="0"/>
                <a:cs typeface="Arial" pitchFamily="34" charset="0"/>
              </a:rPr>
              <a:t>acción</a:t>
            </a:r>
            <a:r>
              <a:rPr lang="es-CR" dirty="0">
                <a:latin typeface="Arial" pitchFamily="34" charset="0"/>
                <a:cs typeface="Arial" pitchFamily="34" charset="0"/>
              </a:rPr>
              <a:t> o constructo (</a:t>
            </a:r>
            <a:r>
              <a:rPr lang="es-CR" b="1" dirty="0">
                <a:latin typeface="Arial" pitchFamily="34" charset="0"/>
                <a:cs typeface="Arial" pitchFamily="34" charset="0"/>
              </a:rPr>
              <a:t>verbo</a:t>
            </a:r>
            <a:r>
              <a:rPr lang="es-CR" dirty="0">
                <a:latin typeface="Arial" pitchFamily="34" charset="0"/>
                <a:cs typeface="Arial" pitchFamily="34" charset="0"/>
              </a:rPr>
              <a:t>) (identifica, reconoce, infiere, …)</a:t>
            </a:r>
          </a:p>
          <a:p>
            <a:pPr marL="355600" indent="-355600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s-CR" dirty="0">
                <a:latin typeface="Arial" pitchFamily="34" charset="0"/>
                <a:cs typeface="Arial" pitchFamily="34" charset="0"/>
              </a:rPr>
              <a:t>Más </a:t>
            </a:r>
            <a:r>
              <a:rPr lang="es-CR" b="1" dirty="0">
                <a:latin typeface="Arial" pitchFamily="34" charset="0"/>
                <a:cs typeface="Arial" pitchFamily="34" charset="0"/>
              </a:rPr>
              <a:t>contenido</a:t>
            </a:r>
            <a:r>
              <a:rPr lang="es-CR" dirty="0">
                <a:latin typeface="Arial" pitchFamily="34" charset="0"/>
                <a:cs typeface="Arial" pitchFamily="34" charset="0"/>
              </a:rPr>
              <a:t> (responde al qué de la acción) y </a:t>
            </a:r>
          </a:p>
          <a:p>
            <a:pPr marL="355600" indent="-355600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s-CR" dirty="0">
                <a:latin typeface="Arial" pitchFamily="34" charset="0"/>
                <a:cs typeface="Arial" pitchFamily="34" charset="0"/>
              </a:rPr>
              <a:t>en ocasiones una </a:t>
            </a:r>
            <a:r>
              <a:rPr lang="es-CR" b="1" dirty="0">
                <a:latin typeface="Arial" pitchFamily="34" charset="0"/>
                <a:cs typeface="Arial" pitchFamily="34" charset="0"/>
              </a:rPr>
              <a:t>condición (dónde, cómo, para qué…) </a:t>
            </a: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es-CR" sz="2000" b="1" dirty="0">
                <a:latin typeface="Arial" pitchFamily="34" charset="0"/>
                <a:cs typeface="Arial" pitchFamily="34" charset="0"/>
              </a:rPr>
              <a:t>Ejemplo: </a:t>
            </a:r>
          </a:p>
          <a:p>
            <a:pPr marL="355600" indent="-355600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s-CR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55600" algn="just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s-CR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 por alcanzar:  </a:t>
            </a:r>
            <a:r>
              <a:rPr lang="es-CR" b="1" dirty="0">
                <a:latin typeface="Arial" panose="020B0604020202020204" pitchFamily="34" charset="0"/>
                <a:cs typeface="Arial" panose="020B0604020202020204" pitchFamily="34" charset="0"/>
              </a:rPr>
              <a:t>Desarrollar estrategias de seguridad y prevención del abuso físico y sexual.</a:t>
            </a:r>
          </a:p>
          <a:p>
            <a:pPr marL="355600" indent="0" algn="just">
              <a:lnSpc>
                <a:spcPct val="170000"/>
              </a:lnSpc>
              <a:buNone/>
              <a:defRPr/>
            </a:pPr>
            <a:r>
              <a:rPr lang="es-CR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Ejemplo de indicador:</a:t>
            </a:r>
            <a:endParaRPr lang="es-CR" sz="2000" b="1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82663" lvl="0" indent="-627063"/>
            <a:r>
              <a:rPr lang="es-C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Menciona acciones de seguridad  para prevenir el abuso físico y sexual.</a:t>
            </a:r>
          </a:p>
          <a:p>
            <a:pPr marL="982663" lvl="0" indent="-627063"/>
            <a:r>
              <a:rPr lang="es-C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 acciones de prevención tendientes a evitar el abuso físico y sexual.</a:t>
            </a:r>
          </a:p>
          <a:p>
            <a:endParaRPr lang="es-CR" dirty="0"/>
          </a:p>
        </p:txBody>
      </p:sp>
      <p:pic>
        <p:nvPicPr>
          <p:cNvPr id="4" name="voz">
            <a:hlinkClick r:id="" action="ppaction://media"/>
            <a:extLst>
              <a:ext uri="{FF2B5EF4-FFF2-40B4-BE49-F238E27FC236}">
                <a16:creationId xmlns:a16="http://schemas.microsoft.com/office/drawing/2014/main" xmlns="" id="{32F6BB23-8B20-4A2D-8F9D-13D97740B2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63888" y="5085184"/>
            <a:ext cx="1341512" cy="10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9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6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99592" y="332656"/>
            <a:ext cx="6840760" cy="939801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R" sz="24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Características de los criterios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1412776"/>
            <a:ext cx="7600358" cy="4685754"/>
          </a:xfrm>
        </p:spPr>
        <p:txBody>
          <a:bodyPr>
            <a:normAutofit/>
          </a:bodyPr>
          <a:lstStyle/>
          <a:p>
            <a:pPr algn="just" eaLnBrk="1" hangingPunct="1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CR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Comprensibles.</a:t>
            </a:r>
          </a:p>
          <a:p>
            <a:pPr algn="just" eaLnBrk="1" hangingPunct="1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CR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Congruentes con los indicadores formulados.</a:t>
            </a:r>
          </a:p>
          <a:p>
            <a:pPr algn="just" eaLnBrk="1" hangingPunct="1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CR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Adecuarse a las distintas necesidades y estilos de aprendizaje.</a:t>
            </a:r>
          </a:p>
          <a:p>
            <a:pPr algn="just" eaLnBrk="1" hangingPunct="1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CR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Especificar el tipo y grado de aprendizaje que se pretende que los estudiantes alcancen</a:t>
            </a:r>
            <a:r>
              <a:rPr lang="es-CR" sz="17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algn="just">
              <a:buClr>
                <a:srgbClr val="FF0066"/>
              </a:buClr>
              <a:buNone/>
            </a:pPr>
            <a:endParaRPr lang="es-CR" sz="1600" b="1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>
              <a:buClr>
                <a:srgbClr val="FF0066"/>
              </a:buClr>
              <a:buNone/>
            </a:pPr>
            <a:r>
              <a:rPr lang="es-CR" sz="16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Indicador</a:t>
            </a:r>
            <a:r>
              <a:rPr lang="es-CR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  </a:t>
            </a:r>
          </a:p>
          <a:p>
            <a:pPr marL="0" lvl="0" indent="0" algn="just">
              <a:buClr>
                <a:srgbClr val="FF0066"/>
              </a:buClr>
              <a:buNone/>
            </a:pPr>
            <a:r>
              <a:rPr lang="es-CR" sz="1400" dirty="0"/>
              <a:t>Formula propósitos para colaborar en una buena convivencia en el hogar y la escuela.</a:t>
            </a:r>
          </a:p>
          <a:p>
            <a:pPr marL="0" indent="0" algn="just">
              <a:buClr>
                <a:srgbClr val="FF0066"/>
              </a:buClr>
              <a:buNone/>
            </a:pPr>
            <a:endParaRPr lang="es-ES" sz="1000" dirty="0">
              <a:latin typeface="Arial" pitchFamily="34" charset="0"/>
              <a:cs typeface="Arial" pitchFamily="34" charset="0"/>
            </a:endParaRPr>
          </a:p>
          <a:p>
            <a:pPr marL="0" indent="0" algn="just" eaLnBrk="1" hangingPunct="1">
              <a:buClr>
                <a:srgbClr val="FF0066"/>
              </a:buClr>
              <a:buNone/>
            </a:pPr>
            <a:r>
              <a:rPr lang="es-CR" sz="16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Criterios:</a:t>
            </a:r>
          </a:p>
          <a:p>
            <a:pPr algn="just" eaLnBrk="1" hangingPunct="1">
              <a:buClr>
                <a:srgbClr val="FFC000"/>
              </a:buClr>
              <a:buFont typeface="Wingdings" pitchFamily="2" charset="2"/>
              <a:buChar char="ü"/>
            </a:pPr>
            <a:endParaRPr lang="es-CR" sz="16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11541"/>
              </p:ext>
            </p:extLst>
          </p:nvPr>
        </p:nvGraphicFramePr>
        <p:xfrm>
          <a:off x="2087334" y="4491701"/>
          <a:ext cx="5797035" cy="13681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88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099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882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3681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100" dirty="0">
                          <a:effectLst/>
                        </a:rPr>
                        <a:t>Formula con facilidad propósitos para colaborar en una buena convivencia en el hogar y la escuela.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100" dirty="0">
                          <a:effectLst/>
                        </a:rPr>
                        <a:t> </a:t>
                      </a:r>
                      <a:endParaRPr lang="es-C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100" dirty="0">
                          <a:effectLst/>
                        </a:rPr>
                        <a:t>Reconoce propósitos para colaborar en una buena convivencia en el hogar y la escuela.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100" dirty="0">
                          <a:effectLst/>
                        </a:rPr>
                        <a:t> </a:t>
                      </a:r>
                      <a:endParaRPr lang="es-C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100" dirty="0">
                          <a:effectLst/>
                        </a:rPr>
                        <a:t>Menciona</a:t>
                      </a:r>
                      <a:r>
                        <a:rPr lang="es-CR" sz="1100" baseline="0" dirty="0">
                          <a:effectLst/>
                        </a:rPr>
                        <a:t> algunos </a:t>
                      </a:r>
                      <a:r>
                        <a:rPr lang="es-CR" sz="1100" dirty="0">
                          <a:effectLst/>
                        </a:rPr>
                        <a:t>propósitos para colaborar en una buena convivencia en el hogar y la escuela.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100" dirty="0">
                          <a:effectLst/>
                        </a:rPr>
                        <a:t> </a:t>
                      </a:r>
                      <a:endParaRPr lang="es-CR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5" name="voz">
            <a:hlinkClick r:id="" action="ppaction://media"/>
            <a:extLst>
              <a:ext uri="{FF2B5EF4-FFF2-40B4-BE49-F238E27FC236}">
                <a16:creationId xmlns:a16="http://schemas.microsoft.com/office/drawing/2014/main" xmlns="" id="{7AE06080-B088-43F3-BB32-AC1CF9B5CE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5862" y="4835268"/>
            <a:ext cx="981472" cy="122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5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749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4825</TotalTime>
  <Words>475</Words>
  <Application>Microsoft Office PowerPoint</Application>
  <PresentationFormat>Presentación en pantalla (4:3)</PresentationFormat>
  <Paragraphs>61</Paragraphs>
  <Slides>5</Slides>
  <Notes>1</Notes>
  <HiddenSlides>0</HiddenSlides>
  <MMClips>5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Arial</vt:lpstr>
      <vt:lpstr>Calibri</vt:lpstr>
      <vt:lpstr>Century Gothic</vt:lpstr>
      <vt:lpstr>Times New Roman</vt:lpstr>
      <vt:lpstr>Wingdings</vt:lpstr>
      <vt:lpstr>Wingdings 2</vt:lpstr>
      <vt:lpstr>Wingdings 3</vt:lpstr>
      <vt:lpstr>Austin</vt:lpstr>
      <vt:lpstr>Presentación de PowerPoint</vt:lpstr>
      <vt:lpstr> ¿Qué es un indicador?  </vt:lpstr>
      <vt:lpstr>Características de los indicadores</vt:lpstr>
      <vt:lpstr>Elementos de un indicador</vt:lpstr>
      <vt:lpstr>Características de los criterios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Evaluación de los Aprendizajes</dc:title>
  <dc:creator>Olga Leiton Cespedes</dc:creator>
  <cp:lastModifiedBy>Paola Porras Monge</cp:lastModifiedBy>
  <cp:revision>236</cp:revision>
  <cp:lastPrinted>2018-04-23T19:53:02Z</cp:lastPrinted>
  <dcterms:created xsi:type="dcterms:W3CDTF">2012-03-05T17:05:03Z</dcterms:created>
  <dcterms:modified xsi:type="dcterms:W3CDTF">2020-08-22T02:09:11Z</dcterms:modified>
</cp:coreProperties>
</file>