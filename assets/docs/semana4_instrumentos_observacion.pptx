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handoutMasterIdLst>
    <p:handoutMasterId r:id="rId24"/>
  </p:handoutMasterIdLst>
  <p:sldIdLst>
    <p:sldId id="266" r:id="rId2"/>
    <p:sldId id="267" r:id="rId3"/>
    <p:sldId id="272" r:id="rId4"/>
    <p:sldId id="282" r:id="rId5"/>
    <p:sldId id="284" r:id="rId6"/>
    <p:sldId id="285" r:id="rId7"/>
    <p:sldId id="286" r:id="rId8"/>
    <p:sldId id="287" r:id="rId9"/>
    <p:sldId id="288" r:id="rId10"/>
    <p:sldId id="289" r:id="rId11"/>
    <p:sldId id="290" r:id="rId12"/>
    <p:sldId id="291" r:id="rId13"/>
    <p:sldId id="292" r:id="rId14"/>
    <p:sldId id="293" r:id="rId15"/>
    <p:sldId id="295" r:id="rId16"/>
    <p:sldId id="296" r:id="rId17"/>
    <p:sldId id="297" r:id="rId18"/>
    <p:sldId id="299" r:id="rId19"/>
    <p:sldId id="308" r:id="rId20"/>
    <p:sldId id="304" r:id="rId21"/>
    <p:sldId id="300" r:id="rId22"/>
  </p:sldIdLst>
  <p:sldSz cx="9144000" cy="6858000" type="screen4x3"/>
  <p:notesSz cx="7010400" cy="9296400"/>
  <p:defaultTextStyle>
    <a:defPPr>
      <a:defRPr lang="es-C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6600"/>
    <a:srgbClr val="9C6F46"/>
    <a:srgbClr val="916741"/>
    <a:srgbClr val="855E3B"/>
    <a:srgbClr val="FFCC00"/>
    <a:srgbClr val="FF9900"/>
    <a:srgbClr val="FFFF66"/>
    <a:srgbClr val="FFFFE5"/>
    <a:srgbClr val="FFFF99"/>
    <a:srgbClr val="CC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E8B1032C-EA38-4F05-BA0D-38AFFFC7BED3}" styleName="Estilo claro 3 - Acento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5758FB7-9AC5-4552-8A53-C91805E547FA}" styleName="Estilo temático 1 - Énfasis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94" autoAdjust="0"/>
    <p:restoredTop sz="94676" autoAdjust="0"/>
  </p:normalViewPr>
  <p:slideViewPr>
    <p:cSldViewPr>
      <p:cViewPr varScale="1">
        <p:scale>
          <a:sx n="60" d="100"/>
          <a:sy n="60" d="100"/>
        </p:scale>
        <p:origin x="1472" y="36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F995183-0AD7-4480-8B40-C9213058D4EA}" type="doc">
      <dgm:prSet loTypeId="urn:microsoft.com/office/officeart/2005/8/layout/p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CR"/>
        </a:p>
      </dgm:t>
    </dgm:pt>
    <dgm:pt modelId="{1A34B0DB-0E9B-4ECD-8E61-56A5DD220B57}">
      <dgm:prSet phldrT="[Texto]"/>
      <dgm:spPr>
        <a:solidFill>
          <a:schemeClr val="accent4">
            <a:lumMod val="75000"/>
          </a:schemeClr>
        </a:solidFill>
      </dgm:spPr>
      <dgm:t>
        <a:bodyPr/>
        <a:lstStyle/>
        <a:p>
          <a:pPr marL="0" marR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s-CR" dirty="0"/>
            <a:t>Listas de cotejo</a:t>
          </a:r>
        </a:p>
        <a:p>
          <a:pPr marL="0" marR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endParaRPr lang="es-CR" dirty="0"/>
        </a:p>
        <a:p>
          <a:pPr marL="0" marR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s-CR" dirty="0"/>
            <a:t>Pruebas escritas, orales y de ejecución</a:t>
          </a:r>
        </a:p>
        <a:p>
          <a:pPr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CR" dirty="0"/>
        </a:p>
      </dgm:t>
    </dgm:pt>
    <dgm:pt modelId="{B0723482-0D4D-4B3A-80EE-70DC827592D9}" type="parTrans" cxnId="{62F819D1-53E5-4E31-ABFD-961959546BE1}">
      <dgm:prSet/>
      <dgm:spPr/>
      <dgm:t>
        <a:bodyPr/>
        <a:lstStyle/>
        <a:p>
          <a:endParaRPr lang="es-CR"/>
        </a:p>
      </dgm:t>
    </dgm:pt>
    <dgm:pt modelId="{E460BCB2-B8DC-4CC1-9CB4-6872C3A2546D}" type="sibTrans" cxnId="{62F819D1-53E5-4E31-ABFD-961959546BE1}">
      <dgm:prSet/>
      <dgm:spPr/>
      <dgm:t>
        <a:bodyPr/>
        <a:lstStyle/>
        <a:p>
          <a:endParaRPr lang="es-CR"/>
        </a:p>
      </dgm:t>
    </dgm:pt>
    <dgm:pt modelId="{7CB3541F-2E0B-4180-9F88-5F4BA9EE9FCF}">
      <dgm:prSet phldrT="[Texto]"/>
      <dgm:spPr>
        <a:solidFill>
          <a:schemeClr val="accent1">
            <a:lumMod val="75000"/>
          </a:schemeClr>
        </a:solidFill>
      </dgm:spPr>
      <dgm:t>
        <a:bodyPr/>
        <a:lstStyle/>
        <a:p>
          <a:pPr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R" dirty="0"/>
            <a:t>Escalas</a:t>
          </a:r>
        </a:p>
        <a:p>
          <a:pPr marL="0" marR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s-CR" dirty="0"/>
            <a:t>Registros Anecdóticos</a:t>
          </a:r>
        </a:p>
        <a:p>
          <a:pPr marL="0" marR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endParaRPr lang="es-CR" dirty="0"/>
        </a:p>
        <a:p>
          <a:pPr marL="0" marR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s-CR" dirty="0"/>
            <a:t>Cuestionarios</a:t>
          </a:r>
        </a:p>
        <a:p>
          <a:pPr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CR" dirty="0"/>
        </a:p>
      </dgm:t>
    </dgm:pt>
    <dgm:pt modelId="{2F84D992-C042-4E89-BF24-D148C70BA4B0}" type="parTrans" cxnId="{69F4D9BD-E34B-42E5-A9F0-8778079C8395}">
      <dgm:prSet/>
      <dgm:spPr/>
      <dgm:t>
        <a:bodyPr/>
        <a:lstStyle/>
        <a:p>
          <a:endParaRPr lang="es-CR"/>
        </a:p>
      </dgm:t>
    </dgm:pt>
    <dgm:pt modelId="{177ADA4C-0435-4809-BA18-52F593E22E62}" type="sibTrans" cxnId="{69F4D9BD-E34B-42E5-A9F0-8778079C8395}">
      <dgm:prSet/>
      <dgm:spPr/>
      <dgm:t>
        <a:bodyPr/>
        <a:lstStyle/>
        <a:p>
          <a:endParaRPr lang="es-CR"/>
        </a:p>
      </dgm:t>
    </dgm:pt>
    <dgm:pt modelId="{3A596A36-96CB-4205-A1B7-F7A8E651D3C7}">
      <dgm:prSet phldrT="[Texto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s-CR" dirty="0"/>
            <a:t>Rúbricas</a:t>
          </a:r>
        </a:p>
        <a:p>
          <a:endParaRPr lang="es-CR" dirty="0"/>
        </a:p>
        <a:p>
          <a:r>
            <a:rPr lang="es-CR" dirty="0"/>
            <a:t>Registros de desempeño</a:t>
          </a:r>
        </a:p>
      </dgm:t>
    </dgm:pt>
    <dgm:pt modelId="{2D308013-CE2F-4FC6-A277-5974626DB567}" type="parTrans" cxnId="{E6205836-7D5E-466B-9A6B-A42AC982B7B3}">
      <dgm:prSet/>
      <dgm:spPr/>
      <dgm:t>
        <a:bodyPr/>
        <a:lstStyle/>
        <a:p>
          <a:endParaRPr lang="es-CR"/>
        </a:p>
      </dgm:t>
    </dgm:pt>
    <dgm:pt modelId="{2F659846-942F-405D-A514-9A6749B64BE2}" type="sibTrans" cxnId="{E6205836-7D5E-466B-9A6B-A42AC982B7B3}">
      <dgm:prSet/>
      <dgm:spPr/>
      <dgm:t>
        <a:bodyPr/>
        <a:lstStyle/>
        <a:p>
          <a:endParaRPr lang="es-CR"/>
        </a:p>
      </dgm:t>
    </dgm:pt>
    <dgm:pt modelId="{14B2E42B-F996-43A7-BF3C-B855D283C248}" type="pres">
      <dgm:prSet presAssocID="{AF995183-0AD7-4480-8B40-C9213058D4EA}" presName="Name0" presStyleCnt="0">
        <dgm:presLayoutVars>
          <dgm:dir/>
          <dgm:resizeHandles val="exact"/>
        </dgm:presLayoutVars>
      </dgm:prSet>
      <dgm:spPr/>
    </dgm:pt>
    <dgm:pt modelId="{2EF0264B-4008-4CA1-B1B8-038381D53741}" type="pres">
      <dgm:prSet presAssocID="{AF995183-0AD7-4480-8B40-C9213058D4EA}" presName="bkgdShp" presStyleLbl="alignAccFollowNode1" presStyleIdx="0" presStyleCnt="1" custScaleY="98771" custLinFactNeighborY="8677"/>
      <dgm:spPr/>
    </dgm:pt>
    <dgm:pt modelId="{5BC10513-CD65-4357-96F8-CA7AB7065E0D}" type="pres">
      <dgm:prSet presAssocID="{AF995183-0AD7-4480-8B40-C9213058D4EA}" presName="linComp" presStyleCnt="0"/>
      <dgm:spPr/>
    </dgm:pt>
    <dgm:pt modelId="{994A871B-A5EC-480C-A625-992268DB2DB8}" type="pres">
      <dgm:prSet presAssocID="{1A34B0DB-0E9B-4ECD-8E61-56A5DD220B57}" presName="compNode" presStyleCnt="0"/>
      <dgm:spPr/>
    </dgm:pt>
    <dgm:pt modelId="{44FC648E-A4ED-4B79-9129-796D79BA3F40}" type="pres">
      <dgm:prSet presAssocID="{1A34B0DB-0E9B-4ECD-8E61-56A5DD220B57}" presName="node" presStyleLbl="node1" presStyleIdx="0" presStyleCnt="3" custLinFactNeighborX="-1009" custLinFactNeighborY="-28846">
        <dgm:presLayoutVars>
          <dgm:bulletEnabled val="1"/>
        </dgm:presLayoutVars>
      </dgm:prSet>
      <dgm:spPr/>
    </dgm:pt>
    <dgm:pt modelId="{256A073C-339D-4AF1-B70D-19B107022815}" type="pres">
      <dgm:prSet presAssocID="{1A34B0DB-0E9B-4ECD-8E61-56A5DD220B57}" presName="invisiNode" presStyleLbl="node1" presStyleIdx="0" presStyleCnt="3"/>
      <dgm:spPr/>
    </dgm:pt>
    <dgm:pt modelId="{A1F056D6-EC76-4E27-B32B-FC049660A3B4}" type="pres">
      <dgm:prSet presAssocID="{1A34B0DB-0E9B-4ECD-8E61-56A5DD220B57}" presName="imagNode" presStyleLbl="fgImgPlace1" presStyleIdx="0" presStyleCnt="3" custScaleX="111192" custScaleY="136958" custLinFactX="100000" custLinFactY="-30367" custLinFactNeighborX="104524" custLinFactNeighborY="-100000"/>
      <dgm:spPr/>
    </dgm:pt>
    <dgm:pt modelId="{CC52D767-0BB7-44EE-97C2-5FE7F99CE57C}" type="pres">
      <dgm:prSet presAssocID="{E460BCB2-B8DC-4CC1-9CB4-6872C3A2546D}" presName="sibTrans" presStyleLbl="sibTrans2D1" presStyleIdx="0" presStyleCnt="0"/>
      <dgm:spPr/>
    </dgm:pt>
    <dgm:pt modelId="{A7AE8D1B-891B-48B7-AACB-F827078ACB5C}" type="pres">
      <dgm:prSet presAssocID="{7CB3541F-2E0B-4180-9F88-5F4BA9EE9FCF}" presName="compNode" presStyleCnt="0"/>
      <dgm:spPr/>
    </dgm:pt>
    <dgm:pt modelId="{5F309E53-003A-4882-B5A7-84D71BD85C6B}" type="pres">
      <dgm:prSet presAssocID="{7CB3541F-2E0B-4180-9F88-5F4BA9EE9FCF}" presName="node" presStyleLbl="node1" presStyleIdx="1" presStyleCnt="3" custLinFactNeighborX="2705" custLinFactNeighborY="-43180">
        <dgm:presLayoutVars>
          <dgm:bulletEnabled val="1"/>
        </dgm:presLayoutVars>
      </dgm:prSet>
      <dgm:spPr/>
    </dgm:pt>
    <dgm:pt modelId="{D02B877A-AEBC-4DCF-B893-44E6D072D246}" type="pres">
      <dgm:prSet presAssocID="{7CB3541F-2E0B-4180-9F88-5F4BA9EE9FCF}" presName="invisiNode" presStyleLbl="node1" presStyleIdx="1" presStyleCnt="3"/>
      <dgm:spPr/>
    </dgm:pt>
    <dgm:pt modelId="{B349D7AC-DF5B-4ED8-8F52-1DA0B2366E74}" type="pres">
      <dgm:prSet presAssocID="{7CB3541F-2E0B-4180-9F88-5F4BA9EE9FCF}" presName="imagNode" presStyleLbl="fgImgPlace1" presStyleIdx="1" presStyleCnt="3" custLinFactY="100000" custLinFactNeighborX="54813" custLinFactNeighborY="118566"/>
      <dgm:spPr/>
    </dgm:pt>
    <dgm:pt modelId="{6DA3A16C-E4CB-49AB-A802-12539DF1B75C}" type="pres">
      <dgm:prSet presAssocID="{177ADA4C-0435-4809-BA18-52F593E22E62}" presName="sibTrans" presStyleLbl="sibTrans2D1" presStyleIdx="0" presStyleCnt="0"/>
      <dgm:spPr/>
    </dgm:pt>
    <dgm:pt modelId="{324D6693-CADD-4943-986D-9FEA292BCC42}" type="pres">
      <dgm:prSet presAssocID="{3A596A36-96CB-4205-A1B7-F7A8E651D3C7}" presName="compNode" presStyleCnt="0"/>
      <dgm:spPr/>
    </dgm:pt>
    <dgm:pt modelId="{136974FA-9064-463C-B03F-03111B8A2B76}" type="pres">
      <dgm:prSet presAssocID="{3A596A36-96CB-4205-A1B7-F7A8E651D3C7}" presName="node" presStyleLbl="node1" presStyleIdx="2" presStyleCnt="3" custScaleY="119373" custLinFactNeighborX="5089" custLinFactNeighborY="-38114">
        <dgm:presLayoutVars>
          <dgm:bulletEnabled val="1"/>
        </dgm:presLayoutVars>
      </dgm:prSet>
      <dgm:spPr/>
    </dgm:pt>
    <dgm:pt modelId="{A1BE62C0-8682-429D-A97B-12B1389541B7}" type="pres">
      <dgm:prSet presAssocID="{3A596A36-96CB-4205-A1B7-F7A8E651D3C7}" presName="invisiNode" presStyleLbl="node1" presStyleIdx="2" presStyleCnt="3"/>
      <dgm:spPr/>
    </dgm:pt>
    <dgm:pt modelId="{57FF1A4A-18AF-4F04-83FB-0C003FC46DDD}" type="pres">
      <dgm:prSet presAssocID="{3A596A36-96CB-4205-A1B7-F7A8E651D3C7}" presName="imagNode" presStyleLbl="fgImgPlace1" presStyleIdx="2" presStyleCnt="3" custScaleX="121310" custScaleY="125074" custLinFactNeighborX="4536" custLinFactNeighborY="297"/>
      <dgm:spPr/>
    </dgm:pt>
  </dgm:ptLst>
  <dgm:cxnLst>
    <dgm:cxn modelId="{E6205836-7D5E-466B-9A6B-A42AC982B7B3}" srcId="{AF995183-0AD7-4480-8B40-C9213058D4EA}" destId="{3A596A36-96CB-4205-A1B7-F7A8E651D3C7}" srcOrd="2" destOrd="0" parTransId="{2D308013-CE2F-4FC6-A277-5974626DB567}" sibTransId="{2F659846-942F-405D-A514-9A6749B64BE2}"/>
    <dgm:cxn modelId="{CF575166-9BA3-4549-B5A5-4E45AC469641}" type="presOf" srcId="{E460BCB2-B8DC-4CC1-9CB4-6872C3A2546D}" destId="{CC52D767-0BB7-44EE-97C2-5FE7F99CE57C}" srcOrd="0" destOrd="0" presId="urn:microsoft.com/office/officeart/2005/8/layout/pList2"/>
    <dgm:cxn modelId="{6E7F4589-73B3-4AAB-8431-7369077526B3}" type="presOf" srcId="{7CB3541F-2E0B-4180-9F88-5F4BA9EE9FCF}" destId="{5F309E53-003A-4882-B5A7-84D71BD85C6B}" srcOrd="0" destOrd="0" presId="urn:microsoft.com/office/officeart/2005/8/layout/pList2"/>
    <dgm:cxn modelId="{A24B989B-69F5-4AE9-9AD6-5C93841EFB5C}" type="presOf" srcId="{3A596A36-96CB-4205-A1B7-F7A8E651D3C7}" destId="{136974FA-9064-463C-B03F-03111B8A2B76}" srcOrd="0" destOrd="0" presId="urn:microsoft.com/office/officeart/2005/8/layout/pList2"/>
    <dgm:cxn modelId="{2575EFA0-59D0-494F-800A-1F8D163C1117}" type="presOf" srcId="{1A34B0DB-0E9B-4ECD-8E61-56A5DD220B57}" destId="{44FC648E-A4ED-4B79-9129-796D79BA3F40}" srcOrd="0" destOrd="0" presId="urn:microsoft.com/office/officeart/2005/8/layout/pList2"/>
    <dgm:cxn modelId="{BF4E8DAA-BB26-45E0-A1E4-51B8722FF924}" type="presOf" srcId="{177ADA4C-0435-4809-BA18-52F593E22E62}" destId="{6DA3A16C-E4CB-49AB-A802-12539DF1B75C}" srcOrd="0" destOrd="0" presId="urn:microsoft.com/office/officeart/2005/8/layout/pList2"/>
    <dgm:cxn modelId="{69F4D9BD-E34B-42E5-A9F0-8778079C8395}" srcId="{AF995183-0AD7-4480-8B40-C9213058D4EA}" destId="{7CB3541F-2E0B-4180-9F88-5F4BA9EE9FCF}" srcOrd="1" destOrd="0" parTransId="{2F84D992-C042-4E89-BF24-D148C70BA4B0}" sibTransId="{177ADA4C-0435-4809-BA18-52F593E22E62}"/>
    <dgm:cxn modelId="{6E81BECB-A150-476F-ACEB-73CD921D5453}" type="presOf" srcId="{AF995183-0AD7-4480-8B40-C9213058D4EA}" destId="{14B2E42B-F996-43A7-BF3C-B855D283C248}" srcOrd="0" destOrd="0" presId="urn:microsoft.com/office/officeart/2005/8/layout/pList2"/>
    <dgm:cxn modelId="{62F819D1-53E5-4E31-ABFD-961959546BE1}" srcId="{AF995183-0AD7-4480-8B40-C9213058D4EA}" destId="{1A34B0DB-0E9B-4ECD-8E61-56A5DD220B57}" srcOrd="0" destOrd="0" parTransId="{B0723482-0D4D-4B3A-80EE-70DC827592D9}" sibTransId="{E460BCB2-B8DC-4CC1-9CB4-6872C3A2546D}"/>
    <dgm:cxn modelId="{EC4E842B-251E-4C06-855D-9322349D229D}" type="presParOf" srcId="{14B2E42B-F996-43A7-BF3C-B855D283C248}" destId="{2EF0264B-4008-4CA1-B1B8-038381D53741}" srcOrd="0" destOrd="0" presId="urn:microsoft.com/office/officeart/2005/8/layout/pList2"/>
    <dgm:cxn modelId="{6C918D9B-B747-4DD8-8DAD-726B44114583}" type="presParOf" srcId="{14B2E42B-F996-43A7-BF3C-B855D283C248}" destId="{5BC10513-CD65-4357-96F8-CA7AB7065E0D}" srcOrd="1" destOrd="0" presId="urn:microsoft.com/office/officeart/2005/8/layout/pList2"/>
    <dgm:cxn modelId="{74E67D01-6F70-40BE-8945-A49BBCCE00C6}" type="presParOf" srcId="{5BC10513-CD65-4357-96F8-CA7AB7065E0D}" destId="{994A871B-A5EC-480C-A625-992268DB2DB8}" srcOrd="0" destOrd="0" presId="urn:microsoft.com/office/officeart/2005/8/layout/pList2"/>
    <dgm:cxn modelId="{D961B760-37AB-429B-9263-5084C954BC04}" type="presParOf" srcId="{994A871B-A5EC-480C-A625-992268DB2DB8}" destId="{44FC648E-A4ED-4B79-9129-796D79BA3F40}" srcOrd="0" destOrd="0" presId="urn:microsoft.com/office/officeart/2005/8/layout/pList2"/>
    <dgm:cxn modelId="{CAD3110B-0283-4B2E-9DF3-63DCF4312E00}" type="presParOf" srcId="{994A871B-A5EC-480C-A625-992268DB2DB8}" destId="{256A073C-339D-4AF1-B70D-19B107022815}" srcOrd="1" destOrd="0" presId="urn:microsoft.com/office/officeart/2005/8/layout/pList2"/>
    <dgm:cxn modelId="{5A451E7B-8F24-4F1A-BDCE-8B2765865ECA}" type="presParOf" srcId="{994A871B-A5EC-480C-A625-992268DB2DB8}" destId="{A1F056D6-EC76-4E27-B32B-FC049660A3B4}" srcOrd="2" destOrd="0" presId="urn:microsoft.com/office/officeart/2005/8/layout/pList2"/>
    <dgm:cxn modelId="{429E28E3-DDB0-437A-8CC3-605032D4B9C8}" type="presParOf" srcId="{5BC10513-CD65-4357-96F8-CA7AB7065E0D}" destId="{CC52D767-0BB7-44EE-97C2-5FE7F99CE57C}" srcOrd="1" destOrd="0" presId="urn:microsoft.com/office/officeart/2005/8/layout/pList2"/>
    <dgm:cxn modelId="{36DDD5DC-8938-49F0-9995-F74245D87EA8}" type="presParOf" srcId="{5BC10513-CD65-4357-96F8-CA7AB7065E0D}" destId="{A7AE8D1B-891B-48B7-AACB-F827078ACB5C}" srcOrd="2" destOrd="0" presId="urn:microsoft.com/office/officeart/2005/8/layout/pList2"/>
    <dgm:cxn modelId="{36083FCF-1710-46F3-8299-FB3EA0B332CE}" type="presParOf" srcId="{A7AE8D1B-891B-48B7-AACB-F827078ACB5C}" destId="{5F309E53-003A-4882-B5A7-84D71BD85C6B}" srcOrd="0" destOrd="0" presId="urn:microsoft.com/office/officeart/2005/8/layout/pList2"/>
    <dgm:cxn modelId="{73F1FD04-A639-426D-86CC-0ECDC6E42B14}" type="presParOf" srcId="{A7AE8D1B-891B-48B7-AACB-F827078ACB5C}" destId="{D02B877A-AEBC-4DCF-B893-44E6D072D246}" srcOrd="1" destOrd="0" presId="urn:microsoft.com/office/officeart/2005/8/layout/pList2"/>
    <dgm:cxn modelId="{DFC526E6-BB20-4443-A76B-7D379E3D53BB}" type="presParOf" srcId="{A7AE8D1B-891B-48B7-AACB-F827078ACB5C}" destId="{B349D7AC-DF5B-4ED8-8F52-1DA0B2366E74}" srcOrd="2" destOrd="0" presId="urn:microsoft.com/office/officeart/2005/8/layout/pList2"/>
    <dgm:cxn modelId="{B2F4E166-AB47-4ABC-8477-ACE750D3EBAB}" type="presParOf" srcId="{5BC10513-CD65-4357-96F8-CA7AB7065E0D}" destId="{6DA3A16C-E4CB-49AB-A802-12539DF1B75C}" srcOrd="3" destOrd="0" presId="urn:microsoft.com/office/officeart/2005/8/layout/pList2"/>
    <dgm:cxn modelId="{AFD46FFB-542D-4CD1-998F-9B7FAF406F58}" type="presParOf" srcId="{5BC10513-CD65-4357-96F8-CA7AB7065E0D}" destId="{324D6693-CADD-4943-986D-9FEA292BCC42}" srcOrd="4" destOrd="0" presId="urn:microsoft.com/office/officeart/2005/8/layout/pList2"/>
    <dgm:cxn modelId="{73DFD52B-6517-4B02-A407-B4ACBCEA0FAB}" type="presParOf" srcId="{324D6693-CADD-4943-986D-9FEA292BCC42}" destId="{136974FA-9064-463C-B03F-03111B8A2B76}" srcOrd="0" destOrd="0" presId="urn:microsoft.com/office/officeart/2005/8/layout/pList2"/>
    <dgm:cxn modelId="{F9FB491F-ACE7-4517-BBBC-5658359F25CF}" type="presParOf" srcId="{324D6693-CADD-4943-986D-9FEA292BCC42}" destId="{A1BE62C0-8682-429D-A97B-12B1389541B7}" srcOrd="1" destOrd="0" presId="urn:microsoft.com/office/officeart/2005/8/layout/pList2"/>
    <dgm:cxn modelId="{A1A4EA08-5D46-4116-9A1D-FE906BF134B0}" type="presParOf" srcId="{324D6693-CADD-4943-986D-9FEA292BCC42}" destId="{57FF1A4A-18AF-4F04-83FB-0C003FC46DDD}" srcOrd="2" destOrd="0" presId="urn:microsoft.com/office/officeart/2005/8/layout/p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F0264B-4008-4CA1-B1B8-038381D53741}">
      <dsp:nvSpPr>
        <dsp:cNvPr id="0" name=""/>
        <dsp:cNvSpPr/>
      </dsp:nvSpPr>
      <dsp:spPr>
        <a:xfrm>
          <a:off x="0" y="153549"/>
          <a:ext cx="6696744" cy="1632273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F056D6-EC76-4E27-B32B-FC049660A3B4}">
      <dsp:nvSpPr>
        <dsp:cNvPr id="0" name=""/>
        <dsp:cNvSpPr/>
      </dsp:nvSpPr>
      <dsp:spPr>
        <a:xfrm>
          <a:off x="3852407" y="-1800"/>
          <a:ext cx="1982271" cy="1659786"/>
        </a:xfrm>
        <a:prstGeom prst="roundRect">
          <a:avLst>
            <a:gd name="adj" fmla="val 1000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FC648E-A4ED-4B79-9129-796D79BA3F40}">
      <dsp:nvSpPr>
        <dsp:cNvPr id="0" name=""/>
        <dsp:cNvSpPr/>
      </dsp:nvSpPr>
      <dsp:spPr>
        <a:xfrm rot="10800000">
          <a:off x="288038" y="1071745"/>
          <a:ext cx="1782746" cy="2019824"/>
        </a:xfrm>
        <a:prstGeom prst="round2SameRect">
          <a:avLst>
            <a:gd name="adj1" fmla="val 10500"/>
            <a:gd name="adj2" fmla="val 0"/>
          </a:avLst>
        </a:prstGeom>
        <a:solidFill>
          <a:schemeClr val="accent4">
            <a:lumMod val="7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marR="0" lvl="0" indent="0" algn="ctr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s-CR" sz="1500" kern="1200" dirty="0"/>
            <a:t>Listas de cotejo</a:t>
          </a:r>
        </a:p>
        <a:p>
          <a:pPr marL="0" marR="0" lvl="0" indent="0" algn="ctr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endParaRPr lang="es-CR" sz="1500" kern="1200" dirty="0"/>
        </a:p>
        <a:p>
          <a:pPr marL="0" marR="0" lvl="0" indent="0" algn="ctr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s-CR" sz="1500" kern="1200" dirty="0"/>
            <a:t>Pruebas escritas, orales y de ejecución</a:t>
          </a:r>
        </a:p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R" sz="1500" kern="1200" dirty="0"/>
        </a:p>
      </dsp:txBody>
      <dsp:txXfrm rot="10800000">
        <a:off x="342864" y="1071745"/>
        <a:ext cx="1673094" cy="1964998"/>
      </dsp:txXfrm>
    </dsp:sp>
    <dsp:sp modelId="{B349D7AC-DF5B-4ED8-8F52-1DA0B2366E74}">
      <dsp:nvSpPr>
        <dsp:cNvPr id="0" name=""/>
        <dsp:cNvSpPr/>
      </dsp:nvSpPr>
      <dsp:spPr>
        <a:xfrm>
          <a:off x="3343986" y="2460513"/>
          <a:ext cx="1782746" cy="1211894"/>
        </a:xfrm>
        <a:prstGeom prst="roundRect">
          <a:avLst>
            <a:gd name="adj" fmla="val 1000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309E53-003A-4882-B5A7-84D71BD85C6B}">
      <dsp:nvSpPr>
        <dsp:cNvPr id="0" name=""/>
        <dsp:cNvSpPr/>
      </dsp:nvSpPr>
      <dsp:spPr>
        <a:xfrm rot="10800000">
          <a:off x="2415032" y="780423"/>
          <a:ext cx="1782746" cy="2019824"/>
        </a:xfrm>
        <a:prstGeom prst="round2SameRect">
          <a:avLst>
            <a:gd name="adj1" fmla="val 10500"/>
            <a:gd name="adj2" fmla="val 0"/>
          </a:avLst>
        </a:prstGeom>
        <a:solidFill>
          <a:schemeClr val="accent1">
            <a:lumMod val="7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1500" kern="1200" dirty="0"/>
            <a:t>Escalas</a:t>
          </a:r>
        </a:p>
        <a:p>
          <a:pPr marL="0" marR="0" lvl="0" indent="0" algn="ctr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s-CR" sz="1500" kern="1200" dirty="0"/>
            <a:t>Registros Anecdóticos</a:t>
          </a:r>
        </a:p>
        <a:p>
          <a:pPr marL="0" marR="0" lvl="0" indent="0" algn="ctr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endParaRPr lang="es-CR" sz="1500" kern="1200" dirty="0"/>
        </a:p>
        <a:p>
          <a:pPr marL="0" marR="0" lvl="0" indent="0" algn="ctr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s-CR" sz="1500" kern="1200" dirty="0"/>
            <a:t>Cuestionarios</a:t>
          </a:r>
        </a:p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R" sz="1500" kern="1200" dirty="0"/>
        </a:p>
      </dsp:txBody>
      <dsp:txXfrm rot="10800000">
        <a:off x="2469858" y="780423"/>
        <a:ext cx="1673094" cy="1964998"/>
      </dsp:txXfrm>
    </dsp:sp>
    <dsp:sp modelId="{57FF1A4A-18AF-4F04-83FB-0C003FC46DDD}">
      <dsp:nvSpPr>
        <dsp:cNvPr id="0" name=""/>
        <dsp:cNvSpPr/>
      </dsp:nvSpPr>
      <dsp:spPr>
        <a:xfrm>
          <a:off x="4408696" y="-25816"/>
          <a:ext cx="2162649" cy="1515765"/>
        </a:xfrm>
        <a:prstGeom prst="roundRect">
          <a:avLst>
            <a:gd name="adj" fmla="val 1000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6974FA-9064-463C-B03F-03111B8A2B76}">
      <dsp:nvSpPr>
        <dsp:cNvPr id="0" name=""/>
        <dsp:cNvSpPr/>
      </dsp:nvSpPr>
      <dsp:spPr>
        <a:xfrm rot="10800000">
          <a:off x="4608506" y="589272"/>
          <a:ext cx="1782746" cy="2411124"/>
        </a:xfrm>
        <a:prstGeom prst="round2SameRect">
          <a:avLst>
            <a:gd name="adj1" fmla="val 10500"/>
            <a:gd name="adj2" fmla="val 0"/>
          </a:avLst>
        </a:prstGeom>
        <a:solidFill>
          <a:schemeClr val="accent6">
            <a:lumMod val="7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1500" kern="1200" dirty="0"/>
            <a:t>Rúbricas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R" sz="1500" kern="1200" dirty="0"/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1500" kern="1200" dirty="0"/>
            <a:t>Registros de desempeño</a:t>
          </a:r>
        </a:p>
      </dsp:txBody>
      <dsp:txXfrm rot="10800000">
        <a:off x="4663332" y="589272"/>
        <a:ext cx="1673094" cy="23562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List2">
  <dgm:title val=""/>
  <dgm:desc val=""/>
  <dgm:catLst>
    <dgm:cat type="list" pri="11000"/>
    <dgm:cat type="picture" pri="24000"/>
    <dgm:cat type="pictureconvert" pri="2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bkgdShp" refType="w"/>
      <dgm:constr type="h" for="ch" forName="bkgdShp" refType="h" fact="0.45"/>
      <dgm:constr type="t" for="ch" forName="bkgdShp"/>
      <dgm:constr type="w" for="ch" forName="linComp" refType="w" fact="0.94"/>
      <dgm:constr type="h" for="ch" forName="linComp" refType="h"/>
      <dgm:constr type="ctrX" for="ch" forName="linComp" refType="w" fact="0.5"/>
    </dgm:constrLst>
    <dgm:ruleLst/>
    <dgm:choose name="Name1">
      <dgm:if name="Name2" axis="ch" ptType="node" func="cnt" op="gte" val="1">
        <dgm:layoutNode name="bkgdShp" styleLbl="alignAccFollow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linComp">
          <dgm:choose name="Name3">
            <dgm:if name="Name4" func="var" arg="dir" op="equ" val="norm">
              <dgm:alg type="lin"/>
            </dgm:if>
            <dgm:else name="Name5">
              <dgm:alg type="lin">
                <dgm:param type="linDir" val="from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w" for="ch" forName="compNode" refType="w"/>
            <dgm:constr type="h" for="ch" forName="compNode" refType="h"/>
            <dgm:constr type="w" for="ch" ptType="sibTrans" refType="w" refFor="ch" refForName="compNode" fact="0.1"/>
            <dgm:constr type="h" for="ch" ptType="sibTrans" op="equ"/>
            <dgm:constr type="h" for="ch" forName="compNode" op="equ"/>
            <dgm:constr type="primFontSz" for="des" forName="node" op="equ"/>
          </dgm:constrLst>
          <dgm:ruleLst/>
          <dgm:forEach name="nodesForEach" axis="ch" ptType="node">
            <dgm:layoutNode name="compNode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node" refType="w"/>
                <dgm:constr type="h" for="ch" forName="node" refType="h" fact="0.55"/>
                <dgm:constr type="b" for="ch" forName="node" refType="h"/>
                <dgm:constr type="w" for="ch" forName="invisiNode" refType="w" fact="0.75"/>
                <dgm:constr type="h" for="ch" forName="invisiNode" refType="h" fact="0.06"/>
                <dgm:constr type="t" for="ch" forName="invisiNode"/>
                <dgm:constr type="w" for="ch" forName="imagNode" refType="w"/>
                <dgm:constr type="h" for="ch" forName="imagNode" refType="h" fact="0.33"/>
                <dgm:constr type="ctrX" for="ch" forName="imagNode" refType="w" fact="0.5"/>
                <dgm:constr type="t" for="ch" forName="imagNode" refType="h" fact="0.06"/>
              </dgm:constrLst>
              <dgm:ruleLst/>
              <dgm:layoutNode name="node" styleLbl="node1">
                <dgm:varLst>
                  <dgm:bulletEnabled val="1"/>
                </dgm:varLst>
                <dgm:alg type="tx">
                  <dgm:param type="txAnchorVert" val="t"/>
                </dgm:alg>
                <dgm:shape xmlns:r="http://schemas.openxmlformats.org/officeDocument/2006/relationships" rot="180" type="round2Same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primFontSz" val="65"/>
                </dgm:constrLst>
                <dgm:ruleLst>
                  <dgm:rule type="primFontSz" val="5" fact="NaN" max="NaN"/>
                </dgm:ruleLst>
              </dgm:layoutNode>
              <dgm:layoutNode name="invisiNode">
                <dgm:alg type="sp"/>
                <dgm:shape xmlns:r="http://schemas.openxmlformats.org/officeDocument/2006/relationships" type="roundRect" r:blip="" hideGeom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  <dgm:layoutNode name="imagNode" styleLbl="fgImgPlace1">
                <dgm:alg type="sp"/>
                <dgm:shape xmlns:r="http://schemas.openxmlformats.org/officeDocument/2006/relationships" type="roundRect" r:blip="" zOrderOff="-2" blipPhldr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</dgm:layoutNode>
            <dgm:forEach name="sibTransForEach" axis="followSib" ptType="sibTrans" cnt="1">
              <dgm:layoutNode name="sibTrans">
                <dgm:alg type="sp"/>
                <dgm:shape xmlns:r="http://schemas.openxmlformats.org/officeDocument/2006/relationships" type="rect" r:blip="" hideGeom="1">
                  <dgm:adjLst/>
                </dgm:shape>
                <dgm:presOf axis="self"/>
                <dgm:constrLst/>
                <dgm:ruleLst/>
              </dgm:layoutNode>
            </dgm:forEach>
          </dgm:forEach>
        </dgm:layoutNode>
      </dgm:if>
      <dgm:else name="Name6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100" cy="464979"/>
          </a:xfrm>
          <a:prstGeom prst="rect">
            <a:avLst/>
          </a:prstGeom>
        </p:spPr>
        <p:txBody>
          <a:bodyPr vert="horz" lIns="91403" tIns="45702" rIns="91403" bIns="45702" rtlCol="0"/>
          <a:lstStyle>
            <a:lvl1pPr algn="l">
              <a:defRPr sz="1200"/>
            </a:lvl1pPr>
          </a:lstStyle>
          <a:p>
            <a:endParaRPr lang="es-CR" dirty="0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3971714" y="0"/>
            <a:ext cx="3037100" cy="464979"/>
          </a:xfrm>
          <a:prstGeom prst="rect">
            <a:avLst/>
          </a:prstGeom>
        </p:spPr>
        <p:txBody>
          <a:bodyPr vert="horz" lIns="91403" tIns="45702" rIns="91403" bIns="45702" rtlCol="0"/>
          <a:lstStyle>
            <a:lvl1pPr algn="r">
              <a:defRPr sz="1200"/>
            </a:lvl1pPr>
          </a:lstStyle>
          <a:p>
            <a:fld id="{A93FAE6A-8F0C-4FA5-B293-438F492AC196}" type="datetimeFigureOut">
              <a:rPr lang="es-CR" smtClean="0"/>
              <a:t>10/11/2025</a:t>
            </a:fld>
            <a:endParaRPr lang="es-CR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8829834"/>
            <a:ext cx="3037100" cy="464979"/>
          </a:xfrm>
          <a:prstGeom prst="rect">
            <a:avLst/>
          </a:prstGeom>
        </p:spPr>
        <p:txBody>
          <a:bodyPr vert="horz" lIns="91403" tIns="45702" rIns="91403" bIns="45702" rtlCol="0" anchor="b"/>
          <a:lstStyle>
            <a:lvl1pPr algn="l">
              <a:defRPr sz="1200"/>
            </a:lvl1pPr>
          </a:lstStyle>
          <a:p>
            <a:endParaRPr lang="es-CR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3971714" y="8829834"/>
            <a:ext cx="3037100" cy="464979"/>
          </a:xfrm>
          <a:prstGeom prst="rect">
            <a:avLst/>
          </a:prstGeom>
        </p:spPr>
        <p:txBody>
          <a:bodyPr vert="horz" lIns="91403" tIns="45702" rIns="91403" bIns="45702" rtlCol="0" anchor="b"/>
          <a:lstStyle>
            <a:lvl1pPr algn="r">
              <a:defRPr sz="1200"/>
            </a:lvl1pPr>
          </a:lstStyle>
          <a:p>
            <a:fld id="{8FF27886-26D0-458A-9920-F0D79BBEBB77}" type="slidenum">
              <a:rPr lang="es-CR" smtClean="0"/>
              <a:t>‹Nº›</a:t>
            </a:fld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18830759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7840" cy="464820"/>
          </a:xfrm>
          <a:prstGeom prst="rect">
            <a:avLst/>
          </a:prstGeom>
        </p:spPr>
        <p:txBody>
          <a:bodyPr vert="horz" lIns="93177" tIns="46588" rIns="93177" bIns="46588" rtlCol="0"/>
          <a:lstStyle>
            <a:lvl1pPr algn="l">
              <a:defRPr sz="1200"/>
            </a:lvl1pPr>
          </a:lstStyle>
          <a:p>
            <a:endParaRPr lang="es-CR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970938" y="1"/>
            <a:ext cx="3037840" cy="464820"/>
          </a:xfrm>
          <a:prstGeom prst="rect">
            <a:avLst/>
          </a:prstGeom>
        </p:spPr>
        <p:txBody>
          <a:bodyPr vert="horz" lIns="93177" tIns="46588" rIns="93177" bIns="46588" rtlCol="0"/>
          <a:lstStyle>
            <a:lvl1pPr algn="r">
              <a:defRPr sz="1200"/>
            </a:lvl1pPr>
          </a:lstStyle>
          <a:p>
            <a:fld id="{4DE3690E-0A3C-461E-A6F7-A0675895CC9B}" type="datetimeFigureOut">
              <a:rPr lang="es-CR" smtClean="0"/>
              <a:t>10/11/2025</a:t>
            </a:fld>
            <a:endParaRPr lang="es-CR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8" rIns="93177" bIns="46588" rtlCol="0" anchor="ctr"/>
          <a:lstStyle/>
          <a:p>
            <a:endParaRPr lang="es-CR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8" rIns="93177" bIns="46588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8" rIns="93177" bIns="46588" rtlCol="0" anchor="b"/>
          <a:lstStyle>
            <a:lvl1pPr algn="l">
              <a:defRPr sz="1200"/>
            </a:lvl1pPr>
          </a:lstStyle>
          <a:p>
            <a:endParaRPr lang="es-CR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8" rIns="93177" bIns="46588" rtlCol="0" anchor="b"/>
          <a:lstStyle>
            <a:lvl1pPr algn="r">
              <a:defRPr sz="1200"/>
            </a:lvl1pPr>
          </a:lstStyle>
          <a:p>
            <a:fld id="{8D70F2AD-7906-4A82-BDB2-65881048E918}" type="slidenum">
              <a:rPr lang="es-CR" smtClean="0"/>
              <a:t>‹Nº›</a:t>
            </a:fld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3142031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R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70F2AD-7906-4A82-BDB2-65881048E918}" type="slidenum">
              <a:rPr lang="es-CR" smtClean="0"/>
              <a:t>1</a:t>
            </a:fld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35365701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DCCC7E54-2C0D-498A-BA8C-FC89A525D868}" type="datetimeFigureOut">
              <a:rPr lang="es-CR" smtClean="0"/>
              <a:t>10/11/2025</a:t>
            </a:fld>
            <a:endParaRPr lang="es-CR" dirty="0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s-C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26E41CF-1624-474A-A673-1CD43BA64135}" type="slidenum">
              <a:rPr lang="es-CR" smtClean="0"/>
              <a:t>‹Nº›</a:t>
            </a:fld>
            <a:endParaRPr lang="es-CR" dirty="0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C7E54-2C0D-498A-BA8C-FC89A525D868}" type="datetimeFigureOut">
              <a:rPr lang="es-CR" smtClean="0"/>
              <a:t>10/11/2025</a:t>
            </a:fld>
            <a:endParaRPr lang="es-C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E41CF-1624-474A-A673-1CD43BA64135}" type="slidenum">
              <a:rPr lang="es-CR" smtClean="0"/>
              <a:t>‹Nº›</a:t>
            </a:fld>
            <a:endParaRPr lang="es-CR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C7E54-2C0D-498A-BA8C-FC89A525D868}" type="datetimeFigureOut">
              <a:rPr lang="es-CR" smtClean="0"/>
              <a:t>10/11/2025</a:t>
            </a:fld>
            <a:endParaRPr lang="es-C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E41CF-1624-474A-A673-1CD43BA64135}" type="slidenum">
              <a:rPr lang="es-CR" smtClean="0"/>
              <a:t>‹Nº›</a:t>
            </a:fld>
            <a:endParaRPr lang="es-CR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C7E54-2C0D-498A-BA8C-FC89A525D868}" type="datetimeFigureOut">
              <a:rPr lang="es-CR" smtClean="0"/>
              <a:t>10/11/2025</a:t>
            </a:fld>
            <a:endParaRPr lang="es-C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E41CF-1624-474A-A673-1CD43BA64135}" type="slidenum">
              <a:rPr lang="es-CR" smtClean="0"/>
              <a:t>‹Nº›</a:t>
            </a:fld>
            <a:endParaRPr lang="es-CR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C7E54-2C0D-498A-BA8C-FC89A525D868}" type="datetimeFigureOut">
              <a:rPr lang="es-CR" smtClean="0"/>
              <a:t>10/11/2025</a:t>
            </a:fld>
            <a:endParaRPr lang="es-C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E41CF-1624-474A-A673-1CD43BA64135}" type="slidenum">
              <a:rPr lang="es-CR" smtClean="0"/>
              <a:t>‹Nº›</a:t>
            </a:fld>
            <a:endParaRPr lang="es-CR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C7E54-2C0D-498A-BA8C-FC89A525D868}" type="datetimeFigureOut">
              <a:rPr lang="es-CR" smtClean="0"/>
              <a:t>10/11/2025</a:t>
            </a:fld>
            <a:endParaRPr lang="es-C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E41CF-1624-474A-A673-1CD43BA64135}" type="slidenum">
              <a:rPr lang="es-CR" smtClean="0"/>
              <a:t>‹Nº›</a:t>
            </a:fld>
            <a:endParaRPr lang="es-CR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C7E54-2C0D-498A-BA8C-FC89A525D868}" type="datetimeFigureOut">
              <a:rPr lang="es-CR" smtClean="0"/>
              <a:t>10/11/2025</a:t>
            </a:fld>
            <a:endParaRPr lang="es-C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E41CF-1624-474A-A673-1CD43BA64135}" type="slidenum">
              <a:rPr lang="es-CR" smtClean="0"/>
              <a:t>‹Nº›</a:t>
            </a:fld>
            <a:endParaRPr lang="es-CR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C7E54-2C0D-498A-BA8C-FC89A525D868}" type="datetimeFigureOut">
              <a:rPr lang="es-CR" smtClean="0"/>
              <a:t>10/11/2025</a:t>
            </a:fld>
            <a:endParaRPr lang="es-C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E41CF-1624-474A-A673-1CD43BA64135}" type="slidenum">
              <a:rPr lang="es-CR" smtClean="0"/>
              <a:t>‹Nº›</a:t>
            </a:fld>
            <a:endParaRPr lang="es-CR" dirty="0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s-CR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C7E54-2C0D-498A-BA8C-FC89A525D868}" type="datetimeFigureOut">
              <a:rPr lang="es-CR" smtClean="0"/>
              <a:t>10/11/2025</a:t>
            </a:fld>
            <a:endParaRPr lang="es-C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s-C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E41CF-1624-474A-A673-1CD43BA64135}" type="slidenum">
              <a:rPr lang="es-CR" smtClean="0"/>
              <a:t>‹Nº›</a:t>
            </a:fld>
            <a:endParaRPr lang="es-CR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C7E54-2C0D-498A-BA8C-FC89A525D868}" type="datetimeFigureOut">
              <a:rPr lang="es-CR" smtClean="0"/>
              <a:t>10/11/2025</a:t>
            </a:fld>
            <a:endParaRPr lang="es-C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E41CF-1624-474A-A673-1CD43BA64135}" type="slidenum">
              <a:rPr lang="es-CR" smtClean="0"/>
              <a:t>‹Nº›</a:t>
            </a:fld>
            <a:endParaRPr lang="es-CR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C7E54-2C0D-498A-BA8C-FC89A525D868}" type="datetimeFigureOut">
              <a:rPr lang="es-CR" smtClean="0"/>
              <a:t>10/11/2025</a:t>
            </a:fld>
            <a:endParaRPr lang="es-C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E41CF-1624-474A-A673-1CD43BA64135}" type="slidenum">
              <a:rPr lang="es-CR" smtClean="0"/>
              <a:t>‹Nº›</a:t>
            </a:fld>
            <a:endParaRPr lang="es-CR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DCCC7E54-2C0D-498A-BA8C-FC89A525D868}" type="datetimeFigureOut">
              <a:rPr lang="es-CR" smtClean="0"/>
              <a:t>10/11/2025</a:t>
            </a:fld>
            <a:endParaRPr lang="es-C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es-C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226E41CF-1624-474A-A673-1CD43BA64135}" type="slidenum">
              <a:rPr lang="es-CR" smtClean="0"/>
              <a:t>‹Nº›</a:t>
            </a:fld>
            <a:endParaRPr lang="es-C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4 Título"/>
          <p:cNvSpPr txBox="1">
            <a:spLocks/>
          </p:cNvSpPr>
          <p:nvPr/>
        </p:nvSpPr>
        <p:spPr>
          <a:xfrm>
            <a:off x="547243" y="1628801"/>
            <a:ext cx="7956552" cy="7920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CR" sz="30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  <a:p>
            <a:pPr>
              <a:lnSpc>
                <a:spcPct val="170000"/>
              </a:lnSpc>
            </a:pPr>
            <a:r>
              <a:rPr lang="es-CR" sz="2900" b="1" cap="all" dirty="0">
                <a:ln w="9000" cmpd="sng">
                  <a:noFill/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innerShdw blurRad="114300">
                    <a:prstClr val="black"/>
                  </a:innerShdw>
                  <a:reflection blurRad="12700" stA="28000" endPos="45000" dist="1000" dir="5400000" sy="-100000" algn="bl" rotWithShape="0"/>
                </a:effectLst>
              </a:rPr>
              <a:t>Instrumentos para la evaluación de los aprendizajes</a:t>
            </a:r>
          </a:p>
          <a:p>
            <a:endParaRPr lang="es-CR" sz="36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solidFill>
                <a:schemeClr val="accent4">
                  <a:lumMod val="75000"/>
                </a:schemeClr>
              </a:solidFill>
            </a:endParaRPr>
          </a:p>
        </p:txBody>
      </p:sp>
      <p:graphicFrame>
        <p:nvGraphicFramePr>
          <p:cNvPr id="9" name="8 Diagrama"/>
          <p:cNvGraphicFramePr/>
          <p:nvPr>
            <p:extLst>
              <p:ext uri="{D42A27DB-BD31-4B8C-83A1-F6EECF244321}">
                <p14:modId xmlns:p14="http://schemas.microsoft.com/office/powerpoint/2010/main" val="2846404171"/>
              </p:ext>
            </p:extLst>
          </p:nvPr>
        </p:nvGraphicFramePr>
        <p:xfrm>
          <a:off x="899592" y="2276872"/>
          <a:ext cx="6696744" cy="36724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7901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764704"/>
            <a:ext cx="7992888" cy="782960"/>
          </a:xfrm>
        </p:spPr>
        <p:txBody>
          <a:bodyPr>
            <a:noAutofit/>
          </a:bodyPr>
          <a:lstStyle/>
          <a:p>
            <a:pPr algn="ctr" eaLnBrk="1" hangingPunct="1"/>
            <a:r>
              <a:rPr lang="es-ES" sz="2400" b="1" dirty="0">
                <a:solidFill>
                  <a:schemeClr val="accent6">
                    <a:lumMod val="75000"/>
                  </a:schemeClr>
                </a:solidFill>
              </a:rPr>
              <a:t>INSTRUMENTOS PARA LA EVALUACIÓN DE LOS APRENDIZAJES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idx="1"/>
          </p:nvPr>
        </p:nvSpPr>
        <p:spPr>
          <a:xfrm>
            <a:off x="711184" y="2060848"/>
            <a:ext cx="4724912" cy="4032448"/>
          </a:xfrm>
        </p:spPr>
        <p:txBody>
          <a:bodyPr rtlCol="0">
            <a:normAutofit/>
          </a:bodyPr>
          <a:lstStyle/>
          <a:p>
            <a:pPr marL="0" indent="0" algn="just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s-ES" sz="1800" dirty="0">
                <a:solidFill>
                  <a:schemeClr val="tx1"/>
                </a:solidFill>
                <a:latin typeface="+mj-lt"/>
                <a:cs typeface="Arial" pitchFamily="34" charset="0"/>
              </a:rPr>
              <a:t>C</a:t>
            </a:r>
            <a:r>
              <a:rPr lang="es-ES" sz="1800" dirty="0">
                <a:solidFill>
                  <a:srgbClr val="000000"/>
                </a:solidFill>
                <a:latin typeface="+mj-lt"/>
                <a:cs typeface="Arial" pitchFamily="34" charset="0"/>
              </a:rPr>
              <a:t>orresponden a recursos concretos de recopilación de información.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endParaRPr lang="es-ES" sz="1800" dirty="0">
              <a:solidFill>
                <a:srgbClr val="000000"/>
              </a:solidFill>
              <a:latin typeface="+mj-lt"/>
              <a:cs typeface="Arial" pitchFamily="34" charset="0"/>
            </a:endParaRPr>
          </a:p>
          <a:p>
            <a:pPr marL="0" indent="0" algn="just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s-ES" sz="1800" dirty="0">
                <a:solidFill>
                  <a:srgbClr val="000000"/>
                </a:solidFill>
                <a:latin typeface="+mj-lt"/>
                <a:cs typeface="Arial" pitchFamily="34" charset="0"/>
              </a:rPr>
              <a:t>Son aquellos recursos que, en diferentes situaciones, facilitan identificar modos de actuación como indicadores para medir el grado de consecución de objetivos de aprendizaje (Rodríguez y Col, 2000).</a:t>
            </a:r>
          </a:p>
        </p:txBody>
      </p:sp>
      <p:sp>
        <p:nvSpPr>
          <p:cNvPr id="3" name="AutoShape 4" descr="data:image/jpeg;base64,/9j/4AAQSkZJRgABAQAAAQABAAD/2wCEAAkGBhQSEBUUEhQUFBQVFxUUFxgVFRUUFBUVFhYXFxYWFBQXHCYeFxkjGhYVHy8gJCcpLCwsFR4xNTAqNSYrLCkBCQoKDgwOGg8PGiwiHyQsLTApKSwpLCwpLCwvLCwsLCwsLCwsLCwsLCwsLCkpLCksLCwsLCwsLCwpKSwsLCwpKf/AABEIALcBFAMBIgACEQEDEQH/xAAcAAABBQEBAQAAAAAAAAAAAAAAAgMEBQYHAQj/xAA/EAABBAAEAwYDBgQFBAMBAAABAAIDEQQFEiEGMUETIlFhcYEHkaEUIzJSscFC0eHwFjNicoIVJFOiQ6PxNP/EABsBAAEFAQEAAAAAAAAAAAAAAAQAAQIDBQYH/8QANBEAAgIBAwIFAgQEBwEAAAAAAAECAxEEEiExQQUTIlFxYZEygbHBFCNC4SQzUmKh0fA0/9oADAMBAAIRAxEAPwDhq9pLDW+J+SUGN/MfkkIapFJ8Mb+f6JQib+cfJIRGpFKYIR/5GpX2f/WxNkfBAQp5wrvzM+aHQOH5fmEsiwQF6lSOtITjHqF4hIcF6EuKBzvwtJ9BaDGQaIIPmkJLJ5SSpMkXcB9UxSjkslESvEukhSK2sAhCEhgQhCQgQhCQgQhCQgQhCQgQhCQgQvUJCPEJVLxIfB4heoSGPEIQkIEIXtJCPEL2kUkI8Ra9pFJCPEIQkIEIQkI23w3omVvkD+yqeKIQMQ+lYfDGb/u3MP8AHG4e43TPGWG0YlwTyfoCKuSqOFvDh3+pQCxX2H//AIzQ31qpc3xVWS6UCPSaKkFqYcN1JMHsjgShCFIpBCEJCBCEJCBCEJCBCEJCBeheJbAkOjwBe0l6UtrFDJLAzSKT2heBiWRYGaQndCE+RsDC9QvaUhgalgJDU4HBRY6Cl7pXmsJWseKjySCkUjtAjtAlyI80pLmp0G0FqWREcNXhT5amnhSTyRaLfg7GdljoHHlrDT6O2/daP4kw1ifUWsLDIWuDhzBBHsbW++IEgkGHlH8cYKeX4S6j8RTYCC8I+uYcD7Kr7K1peE4dUEwPIVa1TuB8PJANI0uLQQ8E865kKCi30CZzjHGTlkkShSc1os7yd2GkMbyHGgbHIgrPzjvJR6lN+MZQ0hPxYJ7uQtTsPkL3c9glKyMerBlFsqkLUxZK1jTtZ81HdlbD0VK1UGWeUzPIWh/6Ow9ENyVnmn/iYDeUzPIVnm2AEYBHVVoCuhNTWUQlHDweIVngMrvvSHS3eh/E8+Da5ep+qj4/8WzNAHIb/UkC1LI2CInYOabCAU7QkSwxTMPTRvzKagGoAqQ2FCueC1LIh7x0CZIUwQr37Oo+aLaVxjQproEJ/MGwUzAnNOyUyEpwxmle5EUiIV4pMeF1EpRwJT70RwyIvSEtzKSCpjHiEopyGIO9UzeBCsME/oScNFzUpsSonLktS4IpYmZWqwdEmHwpRmO0V63Lou3yqKTVvASwjyJ2WKlZRVpkzyY5Ga9LaDtPRxCtm/SPTnfg03BkOpk7bru2jL+IJsMfxFzeWl24ry8Eng+YN7a/ybKuxMgLj7qCfAY456jmf5ycTLr06dg0D0WZxmzldEBVGZDvD0Sj1KbliPBY8N54yBzjJH2gLS2vA+KssPj2nTR5lZEJTZSORVdumjN57g0ZtHRnYW2+qjHh2ciwyh5qfw6C6BhO+y20rO4PQLO0UPMtlW30L7ZbYpo503h6f8o+ae/w9KBZaNlc55mU0b6Y0EDdTsjzB+Iw7nSMDTuK9lpWaOKT5B43PJznibD1G0+a1PBfw4bLhWzyGy8agP4QCaGw3Owv3VJxRD9x6FbjgLPWDLow4uHZtIdt/rdRb4jp7IfTzzV+YVtzIpMz4QEZqi4m+dBtdKrc+568gAoeN4Ja+K4nFrwO+2zTj5b15Utljs0hkFtkLHb6TI0tYSRVE9R125V7KlzT7QxrHNYA3YGgHAgjl5nmPPUEVFkZRWDlmIwZjcWu5jbp/NRStDxHDZ7QFhDug5jyN9VX/wCHsQYDOIZOxG+vTtV1q8S29tXLzV2UCtcjmTNsOHof5/srZmHWZgxTmkadqIP9PRbHB99gcOtH5rP1ScXu7MvreVgjdgvRCrE4ZJdh0F5pa4lM+M3yXqsjAhWeaV7SlZBtyTzcIrhmAThyza0nqUOoGXA0vcF5M62mr9kvNItErvRav4ZcPMxcsjHiw1jXXttuenW9kdHnEivBguyNb8/Pwom010/dd2zH4U4VxtoI2NgOoHnv5c/oqyL4VQticxzy6zqB2Dmnwvr8hyRG8XlP3ONJeHfTgVsM74MbASQSGjkT13WTfF3tuVqWU0VuLi+SywUN6lMbAvMrjvUrEQrMtsxIJiuCufAo7oVayspRzHaaNhLaUONjopzLPxeyezSKiE3lg76N3ZrFVHFiNRwrhw6R7T1Ya9VTTtIefU/qr/hZ2nEb9WkKu7G8Xp59+q91GDzENsjggTxFtWDuLHooONisNNcufoul51Fh2ROjmoP0nQOovlS5/JmJijIbXfsGxe3kprOQSb3QbIGMxLXkaWhoAA26nxUV7dkqEc0p7dlb0A+p07hBt4Vi2kzfuQRz0rIcDsvCM91uNP3TfRY3hr/xli+f1L9R/lxOW8RZlK6QDSQ4itvBaXguJwhe1xJN9fMKfnGTySOa6MtFDqE7w9lssYf2xaS42NK6Fx6tsB3LpgxHFeHqB/kf3U34RYOSUTgv+4YK0aW2ZJAO9qqxQYOvgveMIfuJfVI+FXE4jDsKGxtL3GXtHOrUA1o0eookepWJonmuSfuaT6o0zcpxrZRGGwmIHZ5D9emzsQXFrtvRaX7KGMo0RVVQqvCvBKgzUNOhzmOJFjSQfb22TWOlFWUVlIntbMJNwgySV8kgYGi3Bp/BZ3AcfC6HurTOXiHATSTBnaaXMHca1wL4nxCMOH4mUQRQGzD4K3w5mfth2Ne6xeo6Whu++v8AhN8tjy5Kk4z+H2Y4wF7nwEDdkMb3NaD17zmgOcfEkewUd8crcyMnszg4s3mtvkDO40dKpZnNeHcRhXaZ4ZIr2BewgE/6XcnexW1yjDaY2jyVevmvLRRQuSUYF4cOpoYkliwN4W0Vj4d14pzo0K3zCrA1CArRuBJiLqoV7n0SMvwAA1vHoDy9SpTs0ZW5vyW3o/BpXrfZlLsu4HdrI1vajn/EOFAkBPULZ/ClzYYcRiALc2o3AuDWhvdc03RN3q+irc9jjkjc54qgS3xU74IYoPmxUDqIfE19Hf8AA8tP0eEZPTSoag2SqtVnqNvlnEbcQXADSW9A4P8AqP5KvzDiZjJCwtJrrrjYPm9w8Vd4HIoMOZnwsaHvJMhFklx37xPXcmvNVzuHYMSHMka1wdRdRokA2Lrfn81X36hWeOhT5nlzMZER32bWCRyP6OHoVz/KuCZcU+QjuRxl4JA1FzmDdrG2L9SQPddfnwkcDNEbAxo2oABVGLw8MEBnfpa2E6tQPfLi4ucxtdXEgdb222tNlrhC2qXMjnWVZcWGVh3LDV+I5g+4IVj9mUDIs4B7eSYganF/pZ5D05eyei4uw5Nd4edbLOvrsbbisiUood+yXzCYkwgHJXYYHAOabB5EJmWBARueS9RMjneHoBV+XN+8C0XEGH7ioMEO+FsUz3VDxhiSZq8jYO3bd7qnzlhbiH1tTtvEK1yaWp2eqrs/deJk2rdSq/AF3r1EbFYl8pBe4vIFWfBMZpgf+2Etba9N+ydD9knMcwvB9lXKQPv2pXQfqBL1/LeBxmXw/wDTWyiu2MpB33079PZUxGyRhQaJ30+PS/5pxvIq5mYjqfw8ZeEb6laGbHyAaRp28VQfDE3hfRxV/io+8Vydk7KbrJ1vDy0HYUopMhOxEv5m/JLjxso5uB9koxpjGYlsMbpHmmtFlQWu1MuNzF5dfsVfE0BdhpCfC1y/B4kxyMeACWOa8A8iWkEA16LSZt8RHSNcxkYDDYs86WVa61v6CiyqD8zu8lTnGT4O6wSxvibjB2ZL2WH83NsC2ucbNitJ36LHcQcakEhrrA6N3XPhK4CgSAegJo+y6J8GuEu3xDsVILjgIa0Hk+Z24vxDR3vUsVt0Eszk+F2Llc0sLqdf4XwPY4SIH8bmNfJfPW4AkH0vT7Kz1qM/Ekf316j1SWYgHl/Z8CudeqUpdSLg+rPcdgWTsMcrGSMdza4ammtwa8R4rl+eyYaOd8eHjkcGGnPDrja4c2tBFu8zq2/Xf8T5wcNg5ZW/iDab/udTQfYm/ZZDK8vY2FjeukEnqXEWT8ytOmKtg3JF1NSUXN/CKNuOZ1Jb/uaR9apP2CLaQ4eRv9FePwTD0CrsRkLSbbYPi00fmFVLQr+lknD2IRiPghKODlGwff8AuYCfmKQo/wALL2X3ZT5cis4gzwOcCx3dA6HYqhjzsXusocW7SG2aCa1Lu14jsSUI9Dn56RTk5SfU02dZq57dI/DVeyX8P+IBgswjkeajcDFIfBrxWo+QcGu9lmxiTyKbPNZds5Wzcpdw2uKrilHsfTE2LABjEch1Fzu0a5jWHka1ucBqog71Y5XSr48WRK0NheKNOeXtdQ2HedqJdd7Vf4TyWT+FXHGuI4PEF1ihC8bkiv8AKPpXd8tugWszrM2YeOw17ieQ0/qgbJRguepo1+tcHmc44Bps8zQXEeLMcX4uXc6Q7YXtdfirxNnfzXY8u4WxGLHaTkwNPJtXJXodmX57+QUHjX4TxSQOdg2n7Q2j3nuPaNaCCwDkHHaj5V1Q1Org5er+33GvXGInGXkuoDkVo834E7JjHNlB1NBo7EeKTwTE0y6Xtut9xvYW14gljoyOaD3dIR2/HCKoVJrLK7hOKsKATdEhWEsSb4ZgrDDarJKnSMXKXz/nS+Q+pelGb4ji+6KyWGPfC23Eu0BWJi/EFr6F5qZZjkv8BtIw+aYz+Op3eB3T8THMkZqBG4O/UFJ4mvtt/Db0RVX4WX3IrjQ5KJjo/uifMKRSTinl0Th0G6si/UD2xzB/BCgzyRuHdhwR2bnaztvY81FjfsmWDdKjRbRjI658KXXhyPBxWhzCSnlZn4Ru+7kHg79lqM2Z3yuT1TSnYv8Ad+wfFZS+Cplx9FZrjrEl2FofmFq9xMJJobkpWK4OdNC5rzpJHd8AfNPpI+uM0uhGzo0ciw2BLgSdmjmkFmkrcY3hnEQNLTEXiubNwVn48pfiXbU3T3dxXsV0quT5zwD7NvQptS+nPh7kYwuWYeOqc5gmf465QHm/QFrf+K+dcFkLzjIsM8EGSWOP2e8NsfNfTsOfQOeYw7S5rtAaQRfQadqI/pdWhtY8wWCcIym3hdB+cDw+l37KpxUfetrZG+dAtPqCQVcyNvr8k12LR0Hvv9SuXuo3PJfGWDIcWtfNg3xaXa3Vp7rtyCDyq/lax7OJXMeyGVhbKRWlve3FjmOXI/JdUx5DIy4kAkfiJAodTZ5ALleEyl0uMD5I3tcXEXpewxgAurtAdEjdtA8Q5HaKdiThLovuEQbcfT0XP/vsLm4kDTTw4eoITmHzsSfgdahcWubGGuB/FtSd4by8CIPI3d3vbp9EbRa7IKQ8bG5YaLuOYkbgH5/shR5sdpNCqQiuRcHIWQw+Lz/fopUOGg6tkPzRLl72NugCPDyUBuMffNaclKLcWsNe5jZ4TLoRYdm5iefcqvx+iV7RBGQeo5pgY6Tkd1ouB8PrlcSBYFKE5OMck61vkokn4dcNTzY5scZawsqZxeSKaxzbLQObrcNl9CYbJWNdqI1EdT0/2jp6rC/DvKazB8gGzYXA+rnMA/QroT8V3yOg/UCz/fksPW6ropcJhig4NqITOVfMwcxsp0v9+qr8QwtNhZdt848obamYvNeDoW4p+JAIMo3DdgJP4nUOrtifOz1WT4hyWZkTnWXDwaLPuF1mSMSMcORFWPA9CPIqmczofRdN4dZXqqs90QeYcMxXDrZTDGHVRHyVtisG5ovmFZzYSuQpED99DjaLu8Koti8LEvceNzi+OhjeIYrgd5LCR8x6rpnFOBLI37bEX6eS5kw7+6yNJVOpSrn1TD1JSw0aLUSWlxuqG/gnuLAO0bX5QVHB2HsnM8GrSb6K2qXDRpXVvHBWRYWxZNJvEsHZvA32Vrw/k32mdsevSDZPjQ515q34o4FMEb3xEviDbN1qB9OoV0IyfqXQCtnCPofVo5jEN16CnMEPvBabeO8fUo3uYC6HQvhhn8UPaNlcG2QRateK+O4WyVG7Vt0/msdwVw67FSOa0gULN781N4m+HksLgdbSD7UsOynTy1Mt8vlBilJVpo0HAWfjFYvSQdml2/qul4pgpYngfhxmEgjl2Mj/AMTvI9PRSc7+I0DJDG1rnVsXDkCjFXCtYguAfLl1NM8U21RY3Loy5z9Ia489q38VKyDiGKdo0vBPgeY9lW8f56yGBzYyHTuB0tFOIHV7233W1e5UHHePnBm+D4n4nPIy0BzcKyWWz1LWlrCT077mV6Wuj8HzyxWye6mLnMNWA9ttkYSD3T3NgRW2x6DH/AKFzxjZXEHWYmE/xE/eOdv0G4/sLrMULWCmtDeZNCrJNknxJO9qGpe30exfTalCUWuv7AU047eScKak5eSybOgyKLijAS4iF0cPZguofei26Ls7Ud9h0VDw9w39meQdBeabqZqot57h3LvXyFbBbKV9N8yqOM1N8vomrtcFj3ZN3T8t1roziT4ZJpBGXEkv0Dy3on2C6LPUUYA2AFD0CpOG8p+/mmcNmSSsZ5kPcHH9vmvOIs2DbF0t2STkootq9MXJkTFZgS7ZCzWLjY919tW1UCUIhQQO7Xks8fIHvodf6pGR8OsluzTg6qUDF4pxcS3m08+ic4czRwxBLjs4bnpstXUuvUatuPMXhGbVF1adRfVHmbZZ2eILKoAbeavMmyX7NhRiHv0h5+Q6KZmojxMJLTUjDV9SEzmcgmylkQNvjO467XvSjZpFCLrfYavUPKmjp/wuxbZMPJODYe/swa/8Ysn5v+i0OMiNu89/cc/paznwvw4jyXC2D3hLI7SDq70j6I9qVvFnTXv0AP8AIljgBV8yfRcP4tBSWPqzao3S9f3J2Gl1s8xXvtz+i9AvYqLhcQBidFHvNNeG3eH0tN5nn+HwzgJp4oyejntDj/x5/RCadSsgn1fRjWLD4FYnBdWEtNUfTn779PXxVJjJGiVzXEAmnAX0Ph7gqfPxQ14uBhkH533Gw/7QRqd8gPMrl3xPzB5dFMG6HNuN2kktLSdTTfQg6h/yC3fDa5ae3djhoqnnbyb189dW16qjzjOYm76u+3cAbrm+X5vK53KwOpcaUjEZ6QaOk34Lo/OsazGJUnFcm04l4yw32Qi9Uj20G+Hr4Llccl7qZj8Sx/IBSshweGd/nvLR5KqVVtzyovJKF8YPrwSo3dweim5jDcTHm9OwsLzF4VjHObG7UwfhPiEjFPd2TQSdN3SxoemTizqnmVakvZEXB450MokhJBbyJHj4q9zHjiabDOiLWW5pBcBRI9FY59l2HbgWvjjLS7R6i/zKDwtFhCyU4ggEDaydxW9DqUZtlXLZnqZktlkHY45x9zmDHU73SiNz6r2SO5CGAkajXjV7fRelu6JZz6N98I5KxDx4tH6ra8cx3oPqsD8LH1jD5t/ddN4ow+prVy+uezUyfwHV8wRSZVmPbYf7NYa8bNJ5UoGI+GcjmlzHgP51zBUR2Gp1+Cs+F+JJhjBCbdGRVnfSVpaS5WPDz06lFiceUZGbh3ExPNMIc3mWFRszxuIfG6KRxAdWrUKca5WRz91s+NcykZiS1ji0EDltfPqsli2F4skk+e66erwaycN+5fQzZeIQUtrR0D4F4TTBinAmjLG0N6AtZd31J1fRdMtYH4NkDAytHMTuJ9446/Qrd2uY18JVWyhLqg+qSkk0BKbKUUUszGS4jPbzJWakn3JG5DuXmVo8wvQaBPosFhHPjY6STd7y4gcwBe1+ysroVj29u4oLLGs9xrYI+g5k9BZsk/MkrnPE0LuxjmLv8yyB5Xt9FK4vxEspDdyXu00OVDf+XyVdxW4tZBET+Bi6bS0R2SmyrU3PcoIs8g4TjfA10n4nb+3RCl5Jmg7Bm/IUhacao4BMkTMcfHBhZIWtGpxtrhvuedrM5eCw2bCY+0OqibHnupeWSxOlaJ3OZHfeI3WddGyEcvt7BVcoOWWi1ynHOMjgyq8f6LexBrsudKGtbKwGyB/E09VzfOcyj7Y/Ze7GKANUTXU2rPIuLtEE0MtntNw7zPijtN5tle+z24z1/MCvSUvQuDvfCkzn5ZhXjuudCx1NDeougHbVy+aTMyW9jIASTuIiB9bpRPhlii/J8KTza18ftHI9g+jQr2ULhfEFmTT+psUz2oruyO251gEB3I7gi9uXMrK5xwEJZGyNNFtnckg+XkT4+S2rGbrzESgbeP7f/qw6vMp9algIUylw+G0sArkFRZ/lLJo3McLBFHx9fX+S0OGktrr/ADED02/e1Hni5ldtp5+dVGeMZRRJ4byfPma4eSCR0TrGk0fPwPuKKMKNS0HxGkH21wPRjP0J/cLK4LGaHeS6DSThXOLk+H1Mi5N5S7ErExFnokRTAqXNiGybXsforpvCGHa0OfimixfMdfJa10nVPdXJbX9QWGZLDTySIIyYg4C27C62uvFIxLvuvdW0OOaMEIGEPaHatfUqqmZcZ8iuFvS85tfU9I0inZp1uWOP2PTnEhY5jiS1waKPIBvKvBRHboaEtjbSuvna05v2X2J16aMViCwQ+HuE5Z2ySxHvsdTW/mPVXWT8JSHD4hk0BjlO7XuZd9dLXb17Kjy/P5cHO8ROBAdy/hN/our8J5piZo3SYtjMPGSNF2HkfxF2rkLqr80dls4/EUzA8EZVPBitckUjWgEElppdLzbGsfGNJJI6Brv5JzHcSYTD7B7XvPJrSHOcfqmGcSAnvDRvXkD4Fw2v3QGo0cLZbpPGVgnB4WEjJYyYAm9vUV+qncP5W50TZGuol+q+tLXdmyUb0QokvDEJ30N+QVmm0yollckLFvWM4Kfinh/7Q3tAaexpPkQFh45hpXQ5+Eoq2aPkqnE8Exny9KXR0eMzpjscM/n/AGMy3wuNryp/8F98MIezhrkZLkPrdD/1W5pYHIJW4R4MshETGuJJBcaA2ADRZ9AEY74tse4x4CCSeQDd0o7GNo8aPfd6d31XM6tz1Fsptcvlml5SrxGPsb7SqXMuLsJAdL52F4/gZ97J6aGWR70sFN9sxZ/7ychh/wDhh+6j9Had3/8AIlTsHk8UQpjGt9AqYaVd2WKt9x7O/iRK2NzsPhvQzuq7Nf5bPM/mTWI1CJjHEdoQS6vE7mvJJnw3avZGG33tRA/LH3q9yGj3VTxKXFwmaDrZsQNi5v8AEK6Hw+XVHV1RhH0odw2vgZbhO8NrIdf639FieMJB9rF/hFfJa/HYmnRSM7zJGtc2jRLh+JldSRyHkqzjfDsETXUNbiDuKI25EHqFpUTxVJe3IFfHM0xzD51lwaBpI+fNerDsh2Qn/jJeyKfJQnGYYxvLXVY8NwmHBeO9bSbRcr1LPHAyTS5FEUaTsERe4Ac0xa0fBEDX4inflNetJ9O972voQtlsi5HdfhQKyfDjwMw/++RaKRZ34YsLctYw82yTD/3J/daB5XD+JR2Wyi+zNKiW6Kku54HUqzNJNg4fwn6H+wpkrtlCmNgjyC566fYLiR4n9zbq4n5qPO7mnYG0z3Kg46Xw67V4rstC/wDDw+EVTXqZx3jX7zFzu/K4AejQG/ssw4Enl8lqc4wTm4qRj99bnOBF05riSHNvp/JN/wDRGgGua2r9kJRw+GkZ8U5Zz1yynw8HdTUkneKnRO2o9Nk+yFhFu2PJaev00YaeE4cr/sq01j3tMveDsP2wZGTQcSLUnH4bsnSRnfSSAfMdUjhAd9pjBOhwPK635nyVhxPh3RzyB9Eup9jlRXKThjL+p3uhu3bI542dPrkz4SgvAEoBDM1otYwI4Pz3C4PHvlxcRlDWkxgCy2UVpOkkA9dzy5qJxpxvLj5iSOziu2xNOwvq4/xO/ToqjNjUztlFlcOi2IcxR51qVttmvq/1JuQvrERn/UF23Hb4f2XBYZiCCNiDa1D+PsR2Oix61uszX6Od8oygSpkknk0zJnNd3Xubv0JH0WmzrHPw4YWyE6uj6PToRRXGWZ5M97bed3D9Vr/iti3a8O0E/gJPrsiqNLZCuScueMfQrlbysG4yvF4jERlzHQ7EiiX9PQFZzHcYSskdGWttpLTRP0sJXwanJjnab2c07+Y/os1xXjBHmE7XWO9fzAW7oNJRYl57/POOQO7U2xb8v9CwzTjVtaXWHVfjz9FScFZppxuo/hfbDfi7cE+9D3VLmsRL7BuwD+qYweNMZQsdPRG5wb9OWs/oy96iyUU+53B0wTgxOyxWXcVtkiBds7kb8RzIT/8AiJreZJ9FkNOEmjZjHzEnFGnM4Dw4FwIui1xaaPMbHkq/NcWwMNkAeZWaxXEj3fgGkeJ3/oqfETuebcS7+/p7KasSCFoJy5lwWmAkbN2sFEkkvg8n8y2ulmyPUqq4ozUyRxBwOthcH3t3htZ8z+oKZbKWkFpIIIIINEHoQRuo7u/qLiTqu7NkmzZvx6q2FrSf16ld+ji1sX5fR/3IkeNbW9oUKWPSSEK3y4vkwW2nhiaQUIV/YgehaDgw1iWHzpCEXRxJfJTf+B/B3/go1A8eErvq1hVtO+kIXH+NcXzx7huj/wAqJEdKoUj6ffRCFyU5Ns0UKe2mnzKrAwGUE8m94+jQXfshC7XT+nRJr/T+xT/UYTjdjXwRYkBoc2cw2BRLC3UA7zBa4bbbqFhaJafMIQitPzpK89nJL4yU3rGoml9Cn4twzYsW8NFA075hVODcC6n/AIT4cwhC7Sfq08YvphGR0baOpfD7AMiZL2bidUd7jlVqsw+ZxyuDcUCa1HtB+Jw/hG3RCFy+u9NmF0ydZ4PHzINvrhc9+jM49w1GrqzV866L0PXqFkM6lEHE4Fr32QvBkrD0XiFqV/hRwmt/+ifyx1mSN8Apv+FwW3QXiEpNoHiNYfhwNe07bOB+RtXvF+G7eRjiKptBCFOLe1kWuSw+HFQyytPJwaflaxnxDGvMJS3l3fLkEIRcHmn8weS/mFY3DOLBt9Uy/LiUIVW3ku7D2WwvY6r7p5+vRWYaef6f1QhZ2p4kdb4LmVGH2b/YQX/Pc/WlHkn71eG5/ohChFIIvskkkvf9hhr7JPQfr0SojQHufqhCtYDB8p/P6kXEQguXqEK1N4ArKoOTbR/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2798105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01625" y="228600"/>
            <a:ext cx="8534400" cy="758825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ES" sz="2800" b="1" dirty="0">
                <a:solidFill>
                  <a:srgbClr val="CC0066"/>
                </a:solidFill>
                <a:latin typeface="Arial" pitchFamily="34" charset="0"/>
                <a:cs typeface="Arial" pitchFamily="34" charset="0"/>
              </a:rPr>
              <a:t>  </a:t>
            </a:r>
            <a:r>
              <a:rPr lang="es-ES" sz="2400" b="1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Tipos de instrumentos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13"/>
          </p:nvPr>
        </p:nvSpPr>
        <p:spPr>
          <a:xfrm>
            <a:off x="2051720" y="1700808"/>
            <a:ext cx="4718868" cy="3298105"/>
          </a:xfrm>
        </p:spPr>
        <p:txBody>
          <a:bodyPr>
            <a:normAutofit/>
          </a:bodyPr>
          <a:lstStyle/>
          <a:p>
            <a:pPr eaLnBrk="1" hangingPunct="1">
              <a:lnSpc>
                <a:spcPct val="150000"/>
              </a:lnSpc>
              <a:buClr>
                <a:srgbClr val="CC0066"/>
              </a:buClr>
              <a:buSzPct val="90000"/>
              <a:buBlip>
                <a:blip r:embed="rId2"/>
              </a:buBlip>
            </a:pPr>
            <a:r>
              <a:rPr lang="es-ES" dirty="0">
                <a:latin typeface="Arial" pitchFamily="34" charset="0"/>
                <a:cs typeface="Arial" pitchFamily="34" charset="0"/>
              </a:rPr>
              <a:t>Escalas de calificación</a:t>
            </a:r>
          </a:p>
          <a:p>
            <a:pPr eaLnBrk="1" hangingPunct="1">
              <a:lnSpc>
                <a:spcPct val="150000"/>
              </a:lnSpc>
              <a:buClr>
                <a:srgbClr val="CC0066"/>
              </a:buClr>
              <a:buSzPct val="90000"/>
              <a:buBlip>
                <a:blip r:embed="rId2"/>
              </a:buBlip>
            </a:pPr>
            <a:r>
              <a:rPr lang="es-ES" dirty="0">
                <a:latin typeface="Arial" pitchFamily="34" charset="0"/>
                <a:cs typeface="Arial" pitchFamily="34" charset="0"/>
              </a:rPr>
              <a:t>Lista de Cotejo</a:t>
            </a:r>
          </a:p>
          <a:p>
            <a:pPr eaLnBrk="1" hangingPunct="1">
              <a:lnSpc>
                <a:spcPct val="150000"/>
              </a:lnSpc>
              <a:buClr>
                <a:srgbClr val="CC0066"/>
              </a:buClr>
              <a:buSzPct val="90000"/>
              <a:buBlip>
                <a:blip r:embed="rId2"/>
              </a:buBlip>
            </a:pPr>
            <a:r>
              <a:rPr lang="es-ES" dirty="0">
                <a:latin typeface="Arial" pitchFamily="34" charset="0"/>
                <a:cs typeface="Arial" pitchFamily="34" charset="0"/>
              </a:rPr>
              <a:t>Registro de desempeño</a:t>
            </a:r>
          </a:p>
          <a:p>
            <a:pPr eaLnBrk="1" hangingPunct="1">
              <a:lnSpc>
                <a:spcPct val="150000"/>
              </a:lnSpc>
              <a:buClr>
                <a:srgbClr val="CC0066"/>
              </a:buClr>
              <a:buSzPct val="90000"/>
              <a:buBlip>
                <a:blip r:embed="rId2"/>
              </a:buBlip>
            </a:pPr>
            <a:r>
              <a:rPr lang="es-ES" dirty="0">
                <a:latin typeface="Arial" pitchFamily="34" charset="0"/>
                <a:cs typeface="Arial" pitchFamily="34" charset="0"/>
              </a:rPr>
              <a:t>Registro anecdótico</a:t>
            </a:r>
          </a:p>
          <a:p>
            <a:pPr>
              <a:lnSpc>
                <a:spcPct val="150000"/>
              </a:lnSpc>
              <a:buClr>
                <a:srgbClr val="CC0066"/>
              </a:buClr>
              <a:buSzPct val="90000"/>
              <a:buBlip>
                <a:blip r:embed="rId2"/>
              </a:buBlip>
            </a:pPr>
            <a:r>
              <a:rPr lang="es-ES" dirty="0">
                <a:latin typeface="Arial" pitchFamily="34" charset="0"/>
                <a:cs typeface="Arial" pitchFamily="34" charset="0"/>
              </a:rPr>
              <a:t>Rúbricas</a:t>
            </a:r>
          </a:p>
          <a:p>
            <a:pPr eaLnBrk="1" hangingPunct="1">
              <a:buClr>
                <a:srgbClr val="CC0066"/>
              </a:buClr>
              <a:buSzPct val="90000"/>
              <a:buFont typeface="Wingdings" pitchFamily="2" charset="2"/>
              <a:buChar char="v"/>
            </a:pPr>
            <a:endParaRPr lang="es-ES" dirty="0">
              <a:latin typeface="Arial" pitchFamily="34" charset="0"/>
              <a:cs typeface="Arial" pitchFamily="34" charset="0"/>
            </a:endParaRPr>
          </a:p>
          <a:p>
            <a:pPr eaLnBrk="1" hangingPunct="1">
              <a:buClr>
                <a:srgbClr val="CC0066"/>
              </a:buClr>
              <a:buSzPct val="90000"/>
              <a:buFont typeface="Wingdings" pitchFamily="2" charset="2"/>
              <a:buChar char="v"/>
            </a:pPr>
            <a:endParaRPr lang="es-ES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5803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907704" y="571480"/>
            <a:ext cx="4593122" cy="1143000"/>
          </a:xfrm>
        </p:spPr>
        <p:txBody>
          <a:bodyPr rtlCol="0"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s-ES" sz="2400" b="1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ESCALAS DE CALIFICACIÓN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idx="1"/>
          </p:nvPr>
        </p:nvSpPr>
        <p:spPr>
          <a:xfrm>
            <a:off x="285720" y="2000240"/>
            <a:ext cx="5000660" cy="2143140"/>
          </a:xfrm>
        </p:spPr>
        <p:txBody>
          <a:bodyPr rtlCol="0">
            <a:normAutofit fontScale="92500"/>
          </a:bodyPr>
          <a:lstStyle/>
          <a:p>
            <a:pPr algn="just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s-CR" sz="2000" dirty="0"/>
              <a:t>    </a:t>
            </a:r>
          </a:p>
          <a:p>
            <a:pPr algn="just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s-CR" sz="2000" dirty="0">
                <a:latin typeface="Antique Olive" pitchFamily="34" charset="0"/>
              </a:rPr>
              <a:t>   	</a:t>
            </a:r>
            <a:r>
              <a:rPr lang="es-CR" sz="2400" dirty="0">
                <a:solidFill>
                  <a:srgbClr val="000000"/>
                </a:solidFill>
              </a:rPr>
              <a:t>Presentan un conjunto de características o cualidades por juzgar para indicar el grado hasta el cual se encuentra presente cada atributo</a:t>
            </a:r>
            <a:r>
              <a:rPr lang="es-CR" sz="2400" dirty="0"/>
              <a:t>.  </a:t>
            </a:r>
            <a:endParaRPr lang="es-ES" sz="2400" dirty="0"/>
          </a:p>
          <a:p>
            <a:pPr eaLnBrk="1" fontAlgn="auto" hangingPunct="1">
              <a:spcAft>
                <a:spcPts val="0"/>
              </a:spcAft>
              <a:defRPr/>
            </a:pPr>
            <a:endParaRPr lang="es-ES" dirty="0"/>
          </a:p>
        </p:txBody>
      </p:sp>
      <p:sp>
        <p:nvSpPr>
          <p:cNvPr id="3" name="AutoShape 4" descr="data:image/jpeg;base64,/9j/4AAQSkZJRgABAQAAAQABAAD/2wCEAAkGBxQTEhQUEhQUFRQXFxcYFxcXFxQWFRgVFxUXFxgaFxgYHCggGB0lHBYVITEhJSkrLi4uFx8zODMsNygtLisBCgoKDg0OGxAQGzIkICQsLCwsLC4sLCwsLCwsLCwsLCwsLCwsLCwsLCwsLCwsLCwsLCwsLCwsLCwsLCwsLCwsLP/AABEIAMgA/AMBIgACEQEDEQH/xAAcAAABBQEBAQAAAAAAAAAAAAAEAQIDBQYABwj/xAA+EAACAQIEAwYEAwcEAgIDAAABAhEAAwQSITEFQVEGEyJhcYEykaGxQlLBBxQjctHh8BVigvFDomPSJCVT/8QAGgEAAgMBAQAAAAAAAAAAAAAAAwQAAQIFBv/EAC0RAAICAQQCAAQGAgMAAAAAAAABAgMRBBIhMRNBBSJRYRQycYGRodHwQrHB/9oADAMBAAIRAxEAPwC27uuyURkrslMbzk7QfJXZKIyVYYTg1y4JA0qeQtVt9FPkrslW2L4S6bg0E1kjcVPIR1tdg2SuyURkrslTeVtB8ldkonJSZKveTaD5K7JRGSlyVW8m0GyUoEURkpMlTeTaNS4assDDb1X5KlsvlrLeTceC2xeFiRzH/dVpuFTUgxR2pcs0NvHZt89Elq8DU0VWOhU6UdhLhOnv7ViX1RcfoTRSxTgKWKxvN4GxXRTopQKveTA2KWKe6idNR12pIrW8mBsV0U+K6KveTByJNSnD6UlowaKa8IGg/wA61e8tIBK0kVI9BXsRBrW4p8AWSj+H8KNzXYVFkq84NiVC5ToZpWdrS4LrrTfI3Ddn1B8Rmru0oUADYVCMQDtv607vKWlqH7HIwiuiVwDuJqs4pw1XXwiD5c6ONyo7l8Dc1hah54LlBNcmOxOCZDqKhyVe8WxIeANfOqvJTsLW1liM4JPgGyV2SisldkrW8ztBe7ru7orJXZKm8m0F7uuyUTkpclTeTaC5K7JRWSuyVN5NoKLdT2RTslS2rdZlPgtRIb1umWHZTKkiRBjpRNwUiYcnlUjPgvaTWtqkilS1Ap1LufJvA3LXRT211NdFTeTA2KWKlt25qRrFbUi9oNFLFPK0kVN5MDYpa4mKgv3NNCOenOtqRRHib3IUARRBWu7utqeAbWQjJS5KKa0RuKbkpPeH2kKkipP3h+p+tOyV3d1TkmXhiNiXPM1G7E7k1NkofG4hLKG5cMKPck8gBzJ6VW5IvDfAmSl7k9DWH4l2ku3T4SbSclUw0f7mGp9tKrlvHqfmaWnrknwhuGgk1y8Ho/d12SsPg+MXbezsR+ViWX5Hb2rY8G4iuIQkDKy6Mu8dCPI0SrWRnx0wVullWs9oIyV2SiclJko/kF9oP3ddkojJXZKnkJtB8ldkojJSi3U8hNoOtunFanK0mSsb8k2g+SaPwiDn9KjyDkOXrUirpP051fmx0RIW8KgipQJpxtUNyb5NYIYrop8V0VneVgW0Yqe5en5UPSE0RTZZzGonenEUgt1pSKwQNJpEsztVpb4aSJNHYTBKuvOiRZagyl/014mKgNg9K1uaomsKeQrbwX4xt3Dg770OMAOZo+uiqcYsJgqL+FK1Dkq4xI8JoApSl3ysm0GyV5t2/wCJlsR3IPhsgCOXeMAWPsCB8+tepBBz25+nOvFbGHfGYi6wMB3e4zHUKrOSPU8gPKgybksDWlr+bIIL1SLdrc4bsnhrduTba6+UmGcyxAmFAIUE7UnDuzmGu2kd8O9tmE5Wz27iidAyhoB/zShOjjI/9jGLdonB41kcOjQy7H7jzB6VtE7J4Uf+Nj6u5/Wg+1fDbdvCk27apkdCcojRjkMnc/EKw6GuSPlcmo4XiRes27oEB1kjowMMPYgiiclU/YFCcEhPN7kemb+oNaLJTCseDkzhiTQNkrslEZKruN2mNtgr5YUsVUZrjx+ECRA69dKve30Y2Z4Qy9xC2pjNJ8tfrtTbfErRMZo/mED51nuE4MX3ZEuhSo1zjnMRAMzUXFcNcw7ZbmX+ZTmGu08196zGeY7/AESdc4PDRvcJg82vL7+lFtgF5V592d7TdxdCO38F9x+RifiHQdR716Tmp6GzbyZjiRWPgjUDW4q5zVBftBqDZWv+JrYV9sVOzCKRrMUmSgqe3gm0gZaaUojJS5KrcibQbJXG1ROSuyVfkJtBslPsrBFTZK7JU8hNoaLnnS95QQU04E1flZsLz0mehcxrpNV5WWWcV0Uk0s10cmCK8kihilHVG1sUtdTv5RpPBQdqMZ3OEv3NiLZA/mbwr9WFea9lcQtpMraZ4M9CBAB8oq9/a1xUEphUOxFy76we7U/MtHktYrCXvCB00pG3NfCHtMscno93EWvC/eoBA/ECdOgGtd/r1mdM588un1M1hUu1psK9l0XKiSBDoQZzdQR4teRE86CrZyfGEN8sv8Lig6lzly5jEEnw6RmHXfT0qj4klw4O+Lpttduulte7DhTmuotslW2aDJj8tQXn7kgowBac1snPAnTMYG/TcU7B443cVg7RgBr4cgA691bdxuTzAotd+ZbJLkHPCi2b3h+BWzat2k+G2oUddOZ8yZPvRGWp8tMIokqmjmZyUna/iRw2Fu3bfxAAKSJhmMTHON/as9wbCHD90jB3vXgz3rhVmgqAcrXPwmW0B38VG/tAxZC2rI0VzncxOiMsAT5mfagcDxVnJK2mdvxQ2kn2rCtjGW1jmnh8uQziHA7N5s7Blf8AOjZW9+v3rN3VxNq6RdzOmgLwXBtjTM0awBvPStHg+KAuUuZkcnwh1A35Ajf3qTD2wHvZmd85Jh8sImUBkSBIUxOtW4wsQzjnKMr2m4GLQF202a00TqCVnYiN0PXlMV6H2SxZuYPDsxlsgUnqUJSf/WvNGfubpsuZSITN+RpIHlufcGvU+DYIWbFq0J8CKJO5MSSfcmiK5tuOMYOZZp/HLOew/NSZqbFdUcmZGYi6qqWchVUEsxIAUDUkk7CsBxf9p1lSVw1o3o/Gx7u2fQRmI9hNEduhdxd0YK0cllAt3FXd95KWlH4mgZo81noaLtF2OT92Q4NJZJY6y91WAkydyIkDpIArWz69hoVOSyT4P9p7z/Fw6Ff/AI3YMB6NIP0rccC7QWMWCbLeICWttpcX1HMeYkV4OAQYIII3BBBHqDtReBxT2nW5aYo6mVYbj+o8qFJIt1r0fQWWly1V9l+MjF4dbsAN8NxRsHG8eR3HkatqzsYHoblpMtPp1tZNWq23grI1LM0/92okUk06tNBLkzkFFinfu9T11UqYImRJpZrLN2ldmhEUD/dJP0gUZY48Z8a6dVO3sd/nTfhmgPliX00LxbG9zZu3Ynu0Zo6wCafhsSriVIP3HqOVPvWQ6sjCVYEEdQdDWOegia7Pn3E3GuO1xzmd2LMTzY6n/OlNS00MwUlVALkAkKCYBJ5CasOI4Hurty1M927JPUKYH0ivS/2ccOFvCd5AzXiWJ6qCVQem59zXMoqd1ji/3OjOzxxUkeTW71E27tXna/sXdsXWfDqbllyzBV1dNZIy8xroRWfwuBvs2VLN5m6d2/100odulnF4wGjbGSymG27tTdlb3/7LDOSSO8IE8g1t0H1at52M7MjDJ3mJVO+PiWQG7lR/uOgbckjbQVk+0iWLeMF/C3FZc6uyp+B1YFo5Qd/UmiLSOlKxvn6AXY7W4xX7nq80004Gda6Ka2s5+TO9tuHi5hmcDx2gXX00zj5CfavOeH8Wa0xIhlIhlOzD9K9c4vixatMxgk+EA7EnkfKvH+I8DdWIswywDBMMszprvtSNyirUl+Ye08sQbl0GcR473qBAgUA5pLvcYHyLHwjyqaz2pcJlcBo/FMEjo2mtUX+lXh8WVeusn5Cry52dtmyVVpcgFbjSADuNBsp57ml5XqEuX9hxQeMoj7NYL/UcYxuNlVAr5QJlFIULPKSZJ8zXrsVnuxfZdcFaaWFy7cgu4ELA+FVnWBJ1O81o4rpxhhHJts3SGxTbjBQWYwoBJPQAST8qlis5+0LEG3w/EEbsoT2dgp+hNb2GFyZnCcVsYxLgLBVuuxuKX7u4fGMrBgQfgW2NPyxWiS4s5QRIAPXw7Ag89q8r7J3MObrJiVQq6wheQquDIkjadprTYpTgCt6yW7hmC3LDOrjX8VsgmfXfrpsLLOjCWESdtOAjEOrWnX94AUFCfitliFYxJWGkZojWKwN20Ud0bRkYq0GRmUwYPPUV69ZZS4vBUKsgAugLmNv4gM25GY/D1rzfthhMuLYoD/GIcKNTmdiCI82E+9VJZXBJwx8xsv2PuxXFL+EG0R/MRcDfRUr0SKouxHAThMKEeO9c57kagMQAFnnlAA+daDLRFXwc+cssZFPt71wWnqK3GOHkyOrqSkmiORYs0k0ldNDcizzvDPr7UUDQV3B3UGZkYDrEj5jan2r8+v8Am1dt4fQq4B9i+UIZSQeUfWagxeJuH4rjnpqY+Q0pmelkGarajO1royOKwboTnB65twfOfOtZ2Y7ZJasrZvKwyaK6jMCsyJG4I96E4nPc3VGvhJHnHij6Gsb+9DrXn7656O3Nbzk9HoY1amlqztM3naLtsrgLh1ObX+I+gUHovP3j3p3ZHA3MXb73GXbl2xmItWmY5bkaG5cAjMsyFU6aE9KwWEsNfuLZt6FzqeSr+Jj5AfoK9aS8ERbdsBLaKFUcwqiBrTWkdlsnZY+PoA13iogq6ly+37B+1OA75Fso/dIo1VVGUgbKQI0G8V5/wLhV3GOy2goVdHut8C9Ij4idwB9K9D45wV72CuqmYXmXMokrMEEIf5gCDP5qG4DZ/drSW12UeLzc/ET5z9gK1PSeS7dPoHVr5U0bYdmrw9oqihjmIUAtESQIJjlNSRVanFkVZaR/berQUWdaTwjnZfZhu2GPzXxbB0tj/wBmEmfaPmap+7BlySNB6eGab2uR7eMulgQHIZSRowygaHyiKr7Je6621kltdjAUfiMDblPWvNXwseobjx/g70a6vw63cr/0teOC1lXu9WMSAc0AxAPnNO4ZafIFyktrAAJIXzjbnUdp0QQpA5GT4p5z0NXfDboTDszExd0gc1+EAdS2ulYhCOpu2tYj7Lcpwqxjn0TYfG4kIttUbQaQBmI3+m1DPx68hhmcN+VxB+TCn4LhFu24ZGu22gjMrSRO8hwZ9NKg7RnEIA9wrfswATGg82GpQ+e2nKvY6b8PJKEP77OFarYLdOPP2LbhfapGYJehGPwsPhY9CPwn6GpO1dpMThL1hWhnTwEgxnBzLPlIHzrF9ouC5EF6y/eWdM0fEhOx31To3LnTcLxZ2RSTJGhPpzoWuqVUFOHXsy5YW484uBlYq4KsphlOhB6GuRh5V6XxDD2r6hrltXI0BI8UDzGtM4ZwjDJb7zuLZZbh1YZtBl08WnM0nLT4qVueGSGvi7PHjkyXDOMYi1a/hk9yWMSua3n3IUnSecA9atOyAOI4lYe8cxL5jO3gRiqgbAaDTyrX8dtLctNbMZSNOikaqQOUGqTsz2feziLV7EOlpUOcAOr3H00hUmAZ3NLQ3Oax0ORuUoNHr1caAw3GLDmFuLPIGVJ9M0TRs03Ji+BYpJrppKG5F4FpJpJpKG5F4FJpK6kmhuRZSYW9oKA4lwdX8Vrwv+XZW/8AqfpSYa9oKLt3q6ybjygbRmS5UlXBBG4Igj2qRXrS3bSXNLihvXf2I1FQHglk/DmQ+TEj5NNMK6PsyUczvWY4jwBElg7Ks6gLmyg9NRp9q3GM4QUBYOpAEmfDA6ztVLcuhtBqp3JG48h09aHqVTOHPfoPp7JQlldex3ZO3YVX/d5ZwQLjPo/UaAaJvEdNZrTYMeNS8HX0API+frXlpvvh7xNtiCpKmD8SToD7VrbXEGuDPbvXDbUZm0trcyiM5gKIiYE7waV0lylHb00E11DhPf2megXMQqCWMToOZYnYKBqx8hWA7Udo71rEMpsC2Pw5wSWEfECpynlt71sOEYQKMzQ7n/y5mZmHL4vg9F0oziXDbWItm3eUMp9iD1U7qfMUe6E5R+R4YDTzhGXzxyjz/srxq5iL62XCS+aHA2AUtGXYjTy969Ns28qqokwAJOp0Ea+dYXgPZN8Ji3uM2a2qkWW0zEvvmHIhQR0Oaa3GFvZhrvz/AK0vpa5JPf2F1tkJSXj6HPaDaMAR5gH715TxTF3FY37RhgXmRINtjJBHloa9O4xiO7s3G5hSB6nQfU15pc2rm/FrvHbBL9WG0FW+Ev6KV8fdvuJK52IUZVABLGBI5mTXomN4Ix/hlBctQFgwRAUD1B86w3C8FlxmGI+Dvrf/AB8Wg9JivT+JWy6EBsrSCCOoIOvUSNqPTGuyG+H9AYTuqm42P+ev1RWtbcMQyMo0hjlIaRyg8ttaHN9xdVQvgKsWOjKwEApcU7TmkET8J2qzwzXCCLoBHrVdjMNlbN4j0gT8yNq04uPzRGo2Rn8ssGT4jOHuG0Ce4aWVSZADbr5gQR8utK/BjbwwvZ1yO5CLrmjXc7bLWps8ItXrf/5CkkOWUyUIECdRyMajy5UP23ZAMLZUBE1bKBChfCo05aFq6OovVumw++Dj3V7LJYfBSXUKi2vVQNPzbj5yaPwOCItZbgjxMxGkwYj02qQ3RDurJnHwgkCVjcGdZEj2qqvcVY7afWj+OF1Tri+v+xBxlTJTl7X9EnFsSxcWrQLO3Ich+nryAoTiGFfD5cxBzCZG2YbieZ2q1w1h1tzbynEXShYliuW0Y0VoOoSDl5maucVh1uKUuAMp5GfYgjY+lciMlW8fyehq062Z9mOt4utHwHtIbZC3DNvaTqU8x1HUVm+O8KNh5TMbRGhOsHmCftVdbxFMYUllA5Qa4Z7Zm6bda6s72H4h3uGg722Ke0Bl+jR7VoKSnlPBgWaVBNMqWwKlS3TSKfCJRbFN7oVJS103XD6Ass84wt3SjEu1SWL0Gjku1vAbBa271E271VCXKkuYrKpboJrLRlor+0vFM9zugfAkZv8Ac/T2qrW7SYQggsQJYkmdd6nWypI0j00+m1D2hEsGe49bi4x5MAR7AA/arDsNxLLcbDt8F0HL5OFMx6qD8hRuNwmkOquvmAQPY7VN2cw1lbultA8SjakjSCBJgSD96XhppRt3JjdmpjKnZJejW9n8QQio34fAfJl0+REH3q/ttWXF1A2/i5x9JirTB8TUQGPoYP1p2Woqi8OSycpJlyygiDzqvYm2w+nmKNS6pE5hHWRFU/FMcrMAv4Zk9Zjb5VcmnyaUckHanHh7OVJ+IZpBEKAT94rG3TWsZ56Un+j2mMso/wCMrPrFea1lF1+oeTp6bUQphhmKdiCpX4gylfUGR9q9Cw+NFxQw9x0PMVHa4Nhx/wCFJ6wSfnM0FjeDhGDWmZCfMx6HnFdTQaZUwak+X/AvqtSr2sLoszcoHH8TW2Orch/Ws5xDGXVzKXcESCAY+oqrwt6V1Oxj9a7Nelzy2KYNngsYLgUjUlhIP5p1B61W9oLgu8QIIzKi5Y5HKhaPm1Q9jsaFxKqwBDggeTjUEecAj3qzx/DVXE3LqsTMyp/MQAYPTQ6UtbppeZQXWU/2A3vETK43D5T4WjQnLBIGnItB679KlxFpe6Riq5sqyYgk+fWieIpqx30kH/iBBHtPvQHEsQCihTMBfpvV6yrZt2L3zgU01rnLbN8IsuEYi4wOVkhBPjGwM7ECQP61ZYfGMr5bwKloy6g2zH5ek+vyrIYPHNbbMhg7dQRzBHMUZiOKl1C5baic3hWNYjrp7UlKrL6PQRtwjUBJvEl2ZQFy2yFyq6zLAjUkgxB00rE8XsZL1wci5YeasSR/T2q9w/HRlhwc0QXEEkefn51LwXgn7/ca4xKWEhNPjc7kD8u+p8xFSmM1Lk1dODhlFr+zbDkWLrnZ7gC+YRQCR7kj/jW2VAKHsYRUCogCooAAGgAHKiSa1X+ZuSEZPIjIKdNNmkmibkujI6a6aZNdmrLtLweRpcom3fiqi3eiiFxAplBi3XEiheLYn+GfMxQoxQ86LucML3rQJm20nMNICjMVjkaDbdCHbIkAYa5pFELdqF8G6knKYN17arrmJUsdB0AG9PxOHa3AYiTyBmPXlVQthLGGbwWSXqEYKHldCN45EidPODQ9rER6VBduZbkgeFzLsTAXKog9AIBP+Cs6iWIYRi14RosEfCPOZ+dGK1UmAxYjcFevSrRHrz1sGpGIsmvWpysPiUyvLXmPQ7VXtj7ruTbtZFKx/FYCHDfFlSS3hERIFWCtQV+54jT3w6TlJxb66CxlxgtcCcz+Q1/z51bIay+HxjIwKLm5FeZHl51YDtHZX486HoV1rqzqk3lIBYnkv0oXHPJCjlv6ms/iu2loaW1uO3IAan0H9qBdcXiwVYfu1lvinW6w56HXXzAHrUVbX5uDKQzEB8XiHSwucaIG/BKr4mJ5L4h/hrQt2OsiyEzMLoEm6Ni3OUJjL5bxzorgSJh1W2gy2wI6+eYnmZ3NE43FzsdOZ8qdrue3C9FSeDzdcNdtYm0jLqLiQQDlYZhJB6RPpW3uDcDX9aarzrrGsD9TSYjEBVJJ0G2o51ytV8Vm9QvF64f3COmMq/nM/wAXuRIMzHQ7Gq/BYY3GAMhd2Ou3OPPlV+MK99u8HhWIU8yV6e/Og8DxJbt4rfJnUKCYGcH4fI7wK6NWvc4ybj0c96CKktsuwfEdmSzMbDrl0OVyQRM6ZgDPyoG/wa5bIDsg2+EltzHQVusKVI0AB5gaH+9Zbi2NDXWjZTA840n5g0vpJO+5rHyjt8nVUueSK5wbMmSyC1yZEkDNAMgDYdfatT2B4dibK3BeGS2TKoYL59AWkHQQBp9uea4Xj8t+yf8A5F+UwfpW7u9obK/F3g9Ub77UbWJQkox9oFp5ylF5+pcTSTVC/amzyDn2A+5oW92r/La92b9AP1pXxWv0F3RRpyaSaxl7tFebYqv8o/UzQV7G3H+N2PqTHy2rS0k32zDuS9G7uYpB8ToPVgK5cQh1DKR/MKwmGUE6gaeX+TRJjoKj0n3B/iH9DA28R1+dSd+OtBCtBwThCzmvCY1Cch/N19Nq2pMcbJ+z2e4WTume2RM5SVnbQ7A+/KtHZwrJAytAjca6CPtU2FxOkfIcvYUWuIpW7Rq15yVvaBBbY7K06kaHSdDVNjez2IuXWIVFXQKWcagAchMazvWjt4zxET/gohcRU0+kVL3J5J5GYPiXCLljKbhTxEwFJJMbmIGmo186FDcutaXtdgWfLdTUKsMvMCScw676+1Zexq3+bVnUN55Bzk2+ThhJgW2KakgD4ZMT58utHpbvgtDpBnKNYUkg8x0n5063uT1qfvIE1zp2N9FKKEtJf8Ja6ogycq7gQQIgdD86HR6PDVSi+Kf+Hc7mMUxXZZ4W747fm6D5sBWzLddfXX715wvEMj22OgFxGP8AKGBP0r0S6fCx5QYPIyNINN3PlGblloJUctI+X2qC1gvEROnI9afhbmZQfY+tENcygn/J5VhMDyuCqt6SOh+5/wC6oMdxFjjFsqym2IzADXNkJIY840PL6U/HdpVS8FUBlVoun7qscxMn0ijuLdnUuHvbEJd300W5I+QYz8XPn1rddsJKcfeGg86ZV7XNdjjcJoXiFhHGZwZUGIMHWNPSqdbzgkMWBBggkyCORom3iD1NcFVyg8oLhSWH0aCz/CtqsaKI0JMe+5+VZjtPYtkriJi6rLosQ8fnHkBM76VYYfEcj7VRdtMSSbFofjcn6hB9WPyp/Qyk70l+/wCnsHqnFQfH6GotsRAIhoB+YkEHnXntzGtJBiZM+oJmtxieJ3bZyX7AaDGZDIPQjLMH5Vju0Nm2bhuIGQN4ip/Mdzrrqf1rp/C3iyUfqK61Zgn9CTghz3ZP4RmP2H+eVa7D4xhpuOhrH9jEDXroJI/hiI8nFbL90UH4ifSI+1IfGJZ1GH6SC6LCrCe4tOJiPTT1mh34Z+VvmP1FT2tNAP1NPFyufXrL6/yy/kYlCD9FY+EcfhJ9Nf71FMb6eulXIelZgQOfWYroVfGZL88M/wBApaeL6Kqxdg0XnqX92tk6qB56j7Ugw69W+dOx+M0NcpoC9K/RnOB8KGeDuJzHmANCAOWtG3CVvMqLzgKOkVcWbYzm4PxKAf5gd/l9qfbw4Fxn5sFHpG/z0+Vcr8fie77dfcZ28FXbxHTr7zRTYsqJYH7T7V2DwYtCdDcM69B0HtVPxHETcImQunvz+untTlWr8s9sVx9TLiWGFxRMknWZ+dWFvGCNTEb1mbV6DP8AkU7iGI8KxsT9v+6cKwHcV4uSIBIXl1Pmf6VQq+uYDahMZipO+2lScMeQ3rH0/vTy0sZ07Zezl33tTyvRaW7oO1FDBXHGgAH+4xTeHIJJgfKrhNj6H7Vz4fCoRlmTyDetbeIoz78TXLoZYiIjn61VZ4qruXjII8jrtV6nDxcUXLcsuUuVOsCNdfKiW6WGki5Ryzq6K3yPa+yuJLny/Si++bRczZRELmYr7CYriOVB3r3jRR+ZZ+e1eet1Er5fRHpqNPGpc8st8BxS7YM2njqp8SH1U/cQaTjPbPEvKDJb5ZlBzQR+GSQp896EaqviK+IHqPsarT2yXGTb01UnucVkfwx919/616D2a4nmtBCfFbhT/Lrk+xHtXmKtHOK1vY60Vz3HmHChesCTm13FNUfJZv8AXsV+JKLp5/Y1HGMELwzLpcHP8w6Hz6GqKyjcwR66a1oLQOaDtE+onShsXYzZm2I09fL+9Evdc38j/wBZw4uSQJb0rPcZUtj8KDtNkAxpPfFmE9YFaIYdgJaFHnv8hVtwNQbROh8ZnyiI32POg6a7wzcu+Gv5JOHk4H4myZyqeefl/wD1Vteu5+UV5/2yufxiJmFUfSf1FekOokGBI2PPWs5xLgdi85d1JYnWGYbaDbyimtDfGmzfImpqdkcRMl2KuRiG87T/AEZDW37yqM4azhni3aAMfFJLQdxJ/SiF4gPyn5iha+xai3fFGKIOuO1lsl2CD/alRp0FVtvFgkDUeZ2ot0IgnY8xtv8ASue44D5CM3Ln086fc03p1vxZSd1OvmKla2CQTyH/AF+tCb5LBs9L3lP7qMzHWSYHLfnQt2+Z3PsSB8hVrkmQtNKeGrq6stEHVi71yWY/7m+5pa6un8M7kVIZmqLF3Dl9CPtFdXV1mZKvEpJkfLzqw4ShCGebE/QV1dT2nvlL5WcvXVRityNBw8ae9WtsaH0P2rq6jTOXX+Y8zs2WYwoJP29eleldj8KLVsMSDIK7fhnxexPLpXV1IfFLZLET0Hw+qLyzN9r8A2Gcd3lNp/hIILJ/tYcvJvbeqLhOGNy6BMRLExO3/e9dXVxJ1RTwvZ6Cq6fgcvaLO/h2XcT/AC61U4my7n4CBynSurqzXRFcgX8QsUM4Ra8Gt5BDBWIbMNAY0jmPKtVbRXCsIB302II6daSupjVrZVGUe+jmyslZNuQbZaB6ae1TSDyrq6uLnk0AcU+HXmftrVRbxD2jKkg+WxHmNjS11dWmqP4dS9gZt7iy4nxzJbtxDOYzDUfhknTz+9QHHhsP3iGLnNIkAg6ifTUGurqfWkhv2/bIN6mWzJnr2KZ2zMZNKj11dSckgyZOjVoOHXMyCdQdD6ikrqUvXBtBiiKlDUldSZodE1SPd1PqfvXV1FoWWzEj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R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4326" y="4581128"/>
            <a:ext cx="2486596" cy="165773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01392942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9" name="Rectangle 5"/>
          <p:cNvSpPr>
            <a:spLocks noGrp="1" noChangeArrowheads="1"/>
          </p:cNvSpPr>
          <p:nvPr>
            <p:ph type="title"/>
          </p:nvPr>
        </p:nvSpPr>
        <p:spPr>
          <a:xfrm>
            <a:off x="1928812" y="785813"/>
            <a:ext cx="6000773" cy="633412"/>
          </a:xfrm>
        </p:spPr>
        <p:txBody>
          <a:bodyPr/>
          <a:lstStyle/>
          <a:p>
            <a:pPr eaLnBrk="1" hangingPunct="1"/>
            <a:r>
              <a:rPr lang="es-CR" sz="2400" b="1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TIPOS DE ESCALAS DE CALIFICACIÓN</a:t>
            </a:r>
            <a:endParaRPr lang="es-ES" sz="2400" b="1" dirty="0">
              <a:solidFill>
                <a:schemeClr val="accent5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1990" name="Rectangle 6"/>
          <p:cNvSpPr>
            <a:spLocks noGrp="1" noChangeArrowheads="1"/>
          </p:cNvSpPr>
          <p:nvPr>
            <p:ph idx="1"/>
          </p:nvPr>
        </p:nvSpPr>
        <p:spPr>
          <a:xfrm>
            <a:off x="457200" y="1935163"/>
            <a:ext cx="8401080" cy="3582069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s-CR" sz="2000" b="1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   a)  </a:t>
            </a:r>
            <a:r>
              <a:rPr lang="es-CR" sz="2000" b="1" dirty="0">
                <a:solidFill>
                  <a:schemeClr val="accent5">
                    <a:lumMod val="75000"/>
                  </a:schemeClr>
                </a:solidFill>
                <a:latin typeface="Antique Olive"/>
              </a:rPr>
              <a:t>Escala numérica</a:t>
            </a:r>
            <a:r>
              <a:rPr lang="es-CR" sz="2000" dirty="0">
                <a:solidFill>
                  <a:schemeClr val="accent5">
                    <a:lumMod val="75000"/>
                  </a:schemeClr>
                </a:solidFill>
                <a:latin typeface="Antique Olive"/>
              </a:rPr>
              <a:t>: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s-CR" sz="2000" dirty="0">
                <a:solidFill>
                  <a:srgbClr val="000000"/>
                </a:solidFill>
                <a:latin typeface="Antique Olive"/>
              </a:rPr>
              <a:t>	</a:t>
            </a:r>
          </a:p>
          <a:p>
            <a:pPr indent="-11113" algn="just" eaLnBrk="1" hangingPunct="1">
              <a:lnSpc>
                <a:spcPct val="90000"/>
              </a:lnSpc>
              <a:buFontTx/>
              <a:buNone/>
            </a:pPr>
            <a:r>
              <a:rPr lang="es-CR" sz="2000" dirty="0">
                <a:latin typeface="Antique Olive"/>
              </a:rPr>
              <a:t>Debe indicar el grado en que una característica esté presente. Se complementa realizando una descripción de dicha  característica.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endParaRPr lang="es-CR" sz="2000" dirty="0">
              <a:latin typeface="Antique Olive"/>
            </a:endParaRP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s-CR" sz="2000" dirty="0">
                <a:latin typeface="Antique Olive"/>
              </a:rPr>
              <a:t>	La escala de calificación numérica  es útil cuando las características o cualidades por calificar pueden clasificarse dentro de un número limitado de categorías.</a:t>
            </a:r>
            <a:endParaRPr lang="es-ES" sz="2000" dirty="0">
              <a:latin typeface="Antique Olive"/>
            </a:endParaRPr>
          </a:p>
          <a:p>
            <a:pPr eaLnBrk="1" hangingPunct="1">
              <a:lnSpc>
                <a:spcPct val="90000"/>
              </a:lnSpc>
            </a:pPr>
            <a:endParaRPr lang="es-ES" sz="1800" dirty="0"/>
          </a:p>
        </p:txBody>
      </p:sp>
    </p:spTree>
    <p:extLst>
      <p:ext uri="{BB962C8B-B14F-4D97-AF65-F5344CB8AC3E}">
        <p14:creationId xmlns:p14="http://schemas.microsoft.com/office/powerpoint/2010/main" val="415913767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500"/>
                                        <p:tgtEl>
                                          <p:spTgt spid="419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500"/>
                                        <p:tgtEl>
                                          <p:spTgt spid="419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1" dur="500"/>
                                        <p:tgtEl>
                                          <p:spTgt spid="419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6" dur="500"/>
                                        <p:tgtEl>
                                          <p:spTgt spid="419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9" grpId="0"/>
      <p:bldP spid="41990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3" name="Text Box 5"/>
          <p:cNvSpPr txBox="1">
            <a:spLocks noGrp="1" noChangeArrowheads="1"/>
          </p:cNvSpPr>
          <p:nvPr>
            <p:ph type="title"/>
          </p:nvPr>
        </p:nvSpPr>
        <p:spPr>
          <a:xfrm>
            <a:off x="712532" y="2932931"/>
            <a:ext cx="8143875" cy="1000125"/>
          </a:xfrm>
        </p:spPr>
        <p:txBody>
          <a:bodyPr>
            <a:normAutofit fontScale="90000"/>
          </a:bodyPr>
          <a:lstStyle/>
          <a:p>
            <a:pPr marL="442913" indent="-442913" algn="l" eaLnBrk="1" fontAlgn="auto" hangingPunct="1">
              <a:spcAft>
                <a:spcPts val="0"/>
              </a:spcAft>
              <a:defRPr/>
            </a:pPr>
            <a:r>
              <a:rPr lang="es-CR" sz="2700" b="1" dirty="0">
                <a:solidFill>
                  <a:schemeClr val="accent5">
                    <a:lumMod val="75000"/>
                  </a:schemeClr>
                </a:solidFill>
                <a:latin typeface="Antique Olive" pitchFamily="34" charset="0"/>
              </a:rPr>
              <a:t>Ejemplo</a:t>
            </a:r>
            <a:r>
              <a:rPr lang="es-CR" sz="2700" b="1" dirty="0">
                <a:solidFill>
                  <a:srgbClr val="FFC000"/>
                </a:solidFill>
                <a:latin typeface="Antique Olive" pitchFamily="34" charset="0"/>
              </a:rPr>
              <a:t>:  Para autoevaluación (en primera persona)</a:t>
            </a:r>
            <a:br>
              <a:rPr lang="es-CR" sz="2700" dirty="0">
                <a:solidFill>
                  <a:schemeClr val="tx1"/>
                </a:solidFill>
                <a:latin typeface="Antique Olive" pitchFamily="34" charset="0"/>
              </a:rPr>
            </a:br>
            <a:br>
              <a:rPr lang="es-CR" sz="1800" i="1" dirty="0">
                <a:latin typeface="Antique Olive" pitchFamily="34" charset="0"/>
              </a:rPr>
            </a:br>
            <a:r>
              <a:rPr lang="es-CR" sz="1800" i="1" dirty="0">
                <a:solidFill>
                  <a:schemeClr val="accent5">
                    <a:lumMod val="75000"/>
                  </a:schemeClr>
                </a:solidFill>
                <a:latin typeface="Antique Olive" pitchFamily="34" charset="0"/>
              </a:rPr>
              <a:t>1)  </a:t>
            </a:r>
            <a:r>
              <a:rPr lang="es-CR" sz="2000" i="1" dirty="0">
                <a:solidFill>
                  <a:schemeClr val="accent5">
                    <a:lumMod val="75000"/>
                  </a:schemeClr>
                </a:solidFill>
                <a:latin typeface="Antique Olive" pitchFamily="34" charset="0"/>
              </a:rPr>
              <a:t>¿ </a:t>
            </a:r>
            <a:r>
              <a:rPr lang="es-CR" sz="2000" dirty="0">
                <a:solidFill>
                  <a:schemeClr val="accent5">
                    <a:lumMod val="75000"/>
                  </a:schemeClr>
                </a:solidFill>
                <a:latin typeface="Antique Olive" pitchFamily="34" charset="0"/>
              </a:rPr>
              <a:t>Realizo aportes en las  discusiones</a:t>
            </a:r>
            <a:r>
              <a:rPr lang="es-CR" sz="1800" i="1" dirty="0">
                <a:solidFill>
                  <a:schemeClr val="tx1"/>
                </a:solidFill>
                <a:latin typeface="Tahoma" pitchFamily="34" charset="0"/>
              </a:rPr>
              <a:t>?</a:t>
            </a:r>
            <a:br>
              <a:rPr lang="es-ES" sz="1800" dirty="0">
                <a:solidFill>
                  <a:schemeClr val="tx1"/>
                </a:solidFill>
                <a:latin typeface="Tahoma" pitchFamily="34" charset="0"/>
              </a:rPr>
            </a:br>
            <a:br>
              <a:rPr lang="es-ES" sz="1800" dirty="0">
                <a:solidFill>
                  <a:schemeClr val="tx1"/>
                </a:solidFill>
                <a:latin typeface="Tahoma" pitchFamily="34" charset="0"/>
              </a:rPr>
            </a:br>
            <a:r>
              <a:rPr lang="es-ES" sz="1800" dirty="0">
                <a:solidFill>
                  <a:schemeClr val="tx1"/>
                </a:solidFill>
                <a:latin typeface="Tahoma" pitchFamily="34" charset="0"/>
              </a:rPr>
              <a:t>      </a:t>
            </a:r>
            <a:br>
              <a:rPr lang="es-ES" sz="1800" dirty="0">
                <a:solidFill>
                  <a:schemeClr val="tx1"/>
                </a:solidFill>
                <a:latin typeface="Tahoma" pitchFamily="34" charset="0"/>
              </a:rPr>
            </a:br>
            <a:br>
              <a:rPr lang="es-CR" sz="1800" i="1" dirty="0">
                <a:solidFill>
                  <a:schemeClr val="tx1"/>
                </a:solidFill>
                <a:latin typeface="Tahoma" pitchFamily="34" charset="0"/>
              </a:rPr>
            </a:br>
            <a:br>
              <a:rPr lang="es-CR" sz="1800" i="1" dirty="0">
                <a:solidFill>
                  <a:schemeClr val="tx1"/>
                </a:solidFill>
                <a:latin typeface="Tahoma" pitchFamily="34" charset="0"/>
              </a:rPr>
            </a:br>
            <a:br>
              <a:rPr lang="es-CR" sz="1800" i="1" dirty="0">
                <a:solidFill>
                  <a:schemeClr val="tx1"/>
                </a:solidFill>
                <a:latin typeface="Tahoma" pitchFamily="34" charset="0"/>
              </a:rPr>
            </a:br>
            <a:r>
              <a:rPr lang="es-CR" sz="2000" i="1" dirty="0">
                <a:solidFill>
                  <a:schemeClr val="tx1"/>
                </a:solidFill>
                <a:latin typeface="Antique Olive" pitchFamily="34" charset="0"/>
              </a:rPr>
              <a:t>2</a:t>
            </a:r>
            <a:r>
              <a:rPr lang="es-CR" sz="2000" i="1" dirty="0">
                <a:solidFill>
                  <a:schemeClr val="accent5">
                    <a:lumMod val="75000"/>
                  </a:schemeClr>
                </a:solidFill>
                <a:latin typeface="Antique Olive" pitchFamily="34" charset="0"/>
              </a:rPr>
              <a:t>)   ¿ </a:t>
            </a:r>
            <a:r>
              <a:rPr lang="es-CR" sz="2000" dirty="0">
                <a:solidFill>
                  <a:schemeClr val="accent5">
                    <a:lumMod val="75000"/>
                  </a:schemeClr>
                </a:solidFill>
                <a:latin typeface="Antique Olive" pitchFamily="34" charset="0"/>
              </a:rPr>
              <a:t>Relaciono los comentarios con el tema que se  discute</a:t>
            </a:r>
            <a:r>
              <a:rPr lang="es-CR" sz="1800" i="1" dirty="0">
                <a:solidFill>
                  <a:schemeClr val="accent5">
                    <a:lumMod val="75000"/>
                  </a:schemeClr>
                </a:solidFill>
                <a:latin typeface="Antique Olive" pitchFamily="34" charset="0"/>
              </a:rPr>
              <a:t>?</a:t>
            </a:r>
            <a:br>
              <a:rPr lang="es-ES" sz="2700" b="0" dirty="0">
                <a:solidFill>
                  <a:schemeClr val="tx1"/>
                </a:solidFill>
                <a:latin typeface="Tahoma" pitchFamily="34" charset="0"/>
              </a:rPr>
            </a:br>
            <a:br>
              <a:rPr lang="es-ES" sz="1800" b="0" dirty="0">
                <a:solidFill>
                  <a:schemeClr val="tx1"/>
                </a:solidFill>
                <a:latin typeface="Tahoma" pitchFamily="34" charset="0"/>
              </a:rPr>
            </a:br>
            <a:endParaRPr lang="es-ES" sz="1800" dirty="0">
              <a:solidFill>
                <a:schemeClr val="tx1"/>
              </a:solidFill>
              <a:latin typeface="Tahoma" pitchFamily="34" charset="0"/>
            </a:endParaRPr>
          </a:p>
        </p:txBody>
      </p:sp>
      <p:sp>
        <p:nvSpPr>
          <p:cNvPr id="48143" name="16 Rectángulo"/>
          <p:cNvSpPr>
            <a:spLocks noChangeArrowheads="1"/>
          </p:cNvSpPr>
          <p:nvPr/>
        </p:nvSpPr>
        <p:spPr bwMode="auto">
          <a:xfrm>
            <a:off x="899592" y="5013176"/>
            <a:ext cx="7056784" cy="1169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s-CR" sz="1400" b="1" dirty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Categorías:        Excelente:                       5</a:t>
            </a:r>
            <a:r>
              <a:rPr lang="es-ES" sz="1400" b="1" dirty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   </a:t>
            </a:r>
          </a:p>
          <a:p>
            <a:pPr>
              <a:spcBef>
                <a:spcPts val="0"/>
              </a:spcBef>
            </a:pPr>
            <a:r>
              <a:rPr lang="es-ES" sz="1400" b="1" dirty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                            Muy bueno:          </a:t>
            </a:r>
            <a:r>
              <a:rPr lang="es-CR" sz="1400" b="1" dirty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           4</a:t>
            </a:r>
            <a:endParaRPr lang="es-ES" sz="1400" b="1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  <a:p>
            <a:pPr>
              <a:spcBef>
                <a:spcPts val="0"/>
              </a:spcBef>
            </a:pPr>
            <a:r>
              <a:rPr lang="es-CR" sz="1400" b="1" dirty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                            Bueno:	              3</a:t>
            </a:r>
            <a:endParaRPr lang="es-ES" sz="1400" b="1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  <a:p>
            <a:pPr>
              <a:spcBef>
                <a:spcPts val="0"/>
              </a:spcBef>
            </a:pPr>
            <a:r>
              <a:rPr lang="es-CR" sz="1400" b="1" dirty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                            Regular:	              2</a:t>
            </a:r>
            <a:endParaRPr lang="es-ES" sz="1400" b="1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  <a:p>
            <a:pPr>
              <a:spcBef>
                <a:spcPts val="0"/>
              </a:spcBef>
            </a:pPr>
            <a:r>
              <a:rPr lang="es-CR" sz="1400" b="1" dirty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                            Deficiente:                       1</a:t>
            </a:r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9227" y="3933056"/>
            <a:ext cx="4640803" cy="7103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3621" y="2060848"/>
            <a:ext cx="4640803" cy="7103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51567099"/>
      </p:ext>
    </p:extLst>
  </p:cSld>
  <p:clrMapOvr>
    <a:masterClrMapping/>
  </p:clrMapOvr>
  <p:transition>
    <p:split orient="vert" dir="in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Rectangle 4"/>
          <p:cNvSpPr>
            <a:spLocks noGrp="1" noChangeArrowheads="1"/>
          </p:cNvSpPr>
          <p:nvPr>
            <p:ph idx="1"/>
          </p:nvPr>
        </p:nvSpPr>
        <p:spPr>
          <a:xfrm>
            <a:off x="714375" y="1071563"/>
            <a:ext cx="7169993" cy="3286125"/>
          </a:xfrm>
        </p:spPr>
        <p:txBody>
          <a:bodyPr>
            <a:normAutofit/>
          </a:bodyPr>
          <a:lstStyle/>
          <a:p>
            <a:pPr marL="274320" indent="-274320" eaLnBrk="1" fontAlgn="auto" hangingPunct="1">
              <a:spcBef>
                <a:spcPct val="0"/>
              </a:spcBef>
              <a:spcAft>
                <a:spcPts val="0"/>
              </a:spcAft>
              <a:buClr>
                <a:schemeClr val="accent3"/>
              </a:buClr>
              <a:buFontTx/>
              <a:buNone/>
              <a:defRPr/>
            </a:pPr>
            <a:r>
              <a:rPr lang="es-CR" sz="2400" b="1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b) Escala descriptiva</a:t>
            </a:r>
          </a:p>
          <a:p>
            <a:pPr marL="274320" indent="-274320" algn="just" eaLnBrk="1" fontAlgn="auto" hangingPunct="1">
              <a:spcBef>
                <a:spcPct val="0"/>
              </a:spcBef>
              <a:spcAft>
                <a:spcPts val="0"/>
              </a:spcAft>
              <a:buClr>
                <a:schemeClr val="accent3"/>
              </a:buClr>
              <a:buFontTx/>
              <a:buNone/>
              <a:defRPr/>
            </a:pPr>
            <a:endParaRPr lang="es-CR" u="sng" dirty="0">
              <a:latin typeface="Tahoma" pitchFamily="34" charset="0"/>
            </a:endParaRPr>
          </a:p>
          <a:p>
            <a:pPr marL="274320" indent="-274320" algn="just" eaLnBrk="1" fontAlgn="auto" hangingPunct="1">
              <a:spcBef>
                <a:spcPct val="0"/>
              </a:spcBef>
              <a:spcAft>
                <a:spcPts val="0"/>
              </a:spcAft>
              <a:buClr>
                <a:schemeClr val="accent3"/>
              </a:buClr>
              <a:buFontTx/>
              <a:buNone/>
              <a:defRPr/>
            </a:pPr>
            <a:endParaRPr lang="es-CR" sz="2000" dirty="0">
              <a:latin typeface="Tahoma" pitchFamily="34" charset="0"/>
            </a:endParaRPr>
          </a:p>
          <a:p>
            <a:pPr marL="0" indent="0" algn="just" eaLnBrk="1" fontAlgn="auto" hangingPunct="1">
              <a:spcBef>
                <a:spcPct val="0"/>
              </a:spcBef>
              <a:spcAft>
                <a:spcPts val="0"/>
              </a:spcAft>
              <a:buClr>
                <a:schemeClr val="accent3"/>
              </a:buClr>
              <a:buFontTx/>
              <a:buNone/>
              <a:defRPr/>
            </a:pPr>
            <a:r>
              <a:rPr lang="es-CR" sz="2000" dirty="0">
                <a:latin typeface="Antique Olive" pitchFamily="34" charset="0"/>
              </a:rPr>
              <a:t>Los criterios de valoración se determinan con afirmaciones descriptivas, expresadas brevemente, en un orden secuencial. </a:t>
            </a:r>
            <a:endParaRPr lang="es-ES" sz="2000" dirty="0">
              <a:latin typeface="Antique Olive" pitchFamily="34" charset="0"/>
            </a:endParaRP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Tx/>
              <a:buNone/>
              <a:defRPr/>
            </a:pPr>
            <a:endParaRPr lang="es-E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1659" y="3501008"/>
            <a:ext cx="2769096" cy="26514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8740007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60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60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4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275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4742645"/>
              </p:ext>
            </p:extLst>
          </p:nvPr>
        </p:nvGraphicFramePr>
        <p:xfrm>
          <a:off x="683568" y="2285992"/>
          <a:ext cx="7776865" cy="2938018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25917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32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17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12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u="none" strike="noStrike" cap="none" normalizeH="0" baseline="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effectLst/>
                        </a:rPr>
                        <a:t>Muy bueno</a:t>
                      </a:r>
                      <a:endParaRPr kumimoji="0" lang="es-ES" sz="1600" b="0" i="0" u="none" strike="noStrike" cap="none" normalizeH="0" baseline="0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u="none" strike="noStrike" kern="1200" cap="none" normalizeH="0" baseline="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effectLst/>
                        </a:rPr>
                        <a:t>Bueno</a:t>
                      </a:r>
                      <a:endParaRPr kumimoji="0" lang="es-ES" sz="1600" b="0" i="0" u="none" strike="noStrike" kern="1200" cap="none" normalizeH="0" baseline="0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u="none" strike="noStrike" kern="1200" cap="none" normalizeH="0" baseline="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effectLst/>
                        </a:rPr>
                        <a:t>Debe</a:t>
                      </a:r>
                      <a:r>
                        <a:rPr kumimoji="0" lang="es-ES" sz="1800" u="none" strike="noStrike" cap="none" normalizeH="0" baseline="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kumimoji="0" lang="es-ES" sz="1600" u="none" strike="noStrike" kern="1200" cap="none" normalizeH="0" baseline="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effectLst/>
                        </a:rPr>
                        <a:t>mejorar</a:t>
                      </a:r>
                      <a:endParaRPr kumimoji="0" lang="es-ES" sz="1600" b="0" i="0" u="none" strike="noStrike" kern="1200" cap="none" normalizeH="0" baseline="0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1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u="none" strike="noStrike" cap="none" normalizeH="0" baseline="0" dirty="0">
                          <a:ln>
                            <a:solidFill>
                              <a:schemeClr val="tx1"/>
                            </a:solidFill>
                          </a:ln>
                          <a:effectLst/>
                          <a:latin typeface="+mn-lt"/>
                        </a:rPr>
                        <a:t>Cumplo con todas las tareas asignadas.</a:t>
                      </a:r>
                      <a:endParaRPr kumimoji="0" lang="es-ES" sz="1600" b="0" i="0" u="none" strike="noStrike" cap="none" normalizeH="0" baseline="0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u="none" strike="noStrike" cap="none" normalizeH="0" baseline="0" dirty="0">
                          <a:ln>
                            <a:solidFill>
                              <a:schemeClr val="tx1"/>
                            </a:solidFill>
                          </a:ln>
                          <a:effectLst/>
                          <a:latin typeface="+mn-lt"/>
                        </a:rPr>
                        <a:t>Cumplo con la mayoría de las tareas asignadas.</a:t>
                      </a:r>
                      <a:endParaRPr kumimoji="0" lang="es-ES" sz="1600" b="0" i="0" u="none" strike="noStrike" cap="none" normalizeH="0" baseline="0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R" sz="1600" u="none" strike="noStrike" cap="none" normalizeH="0" baseline="0" dirty="0">
                          <a:ln>
                            <a:solidFill>
                              <a:schemeClr val="tx1"/>
                            </a:solidFill>
                          </a:ln>
                          <a:effectLst/>
                          <a:latin typeface="+mn-lt"/>
                        </a:rPr>
                        <a:t>Incumplo con las tareas asignadas.</a:t>
                      </a:r>
                      <a:endParaRPr kumimoji="0" lang="es-ES" sz="1600" b="0" i="0" u="none" strike="noStrike" cap="none" normalizeH="0" baseline="0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1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s-CR" sz="1600" u="none" strike="noStrike" kern="1200" baseline="0" dirty="0">
                          <a:ln>
                            <a:solidFill>
                              <a:schemeClr val="tx1"/>
                            </a:solidFill>
                          </a:ln>
                          <a:latin typeface="+mn-lt"/>
                        </a:rPr>
                        <a:t>Termino todos mis trabajos en el tiempo establecido.</a:t>
                      </a:r>
                      <a:endParaRPr kumimoji="0" lang="es-ES" sz="1600" b="0" i="0" u="none" strike="noStrike" cap="none" normalizeH="0" baseline="0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R" sz="1600" u="none" strike="noStrike" kern="1200" baseline="0" dirty="0">
                          <a:ln>
                            <a:solidFill>
                              <a:schemeClr val="tx1"/>
                            </a:solidFill>
                          </a:ln>
                          <a:latin typeface="+mn-lt"/>
                        </a:rPr>
                        <a:t>Termino la mayoría de mis trabajos en el tiempo establecido.</a:t>
                      </a:r>
                      <a:endParaRPr kumimoji="0" lang="es-ES" sz="1600" u="none" strike="noStrike" cap="none" normalizeH="0" baseline="0" dirty="0">
                        <a:ln>
                          <a:solidFill>
                            <a:schemeClr val="tx1"/>
                          </a:solidFill>
                        </a:ln>
                        <a:effectLst/>
                        <a:latin typeface="+mn-lt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600" b="0" i="0" u="none" strike="noStrike" cap="none" normalizeH="0" baseline="0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R" sz="1600" u="none" strike="noStrike" kern="1200" baseline="0" dirty="0">
                          <a:ln>
                            <a:solidFill>
                              <a:schemeClr val="tx1"/>
                            </a:solidFill>
                          </a:ln>
                          <a:latin typeface="+mn-lt"/>
                        </a:rPr>
                        <a:t>Termino muy pocos de mis trabajos en el tiempo establecido.</a:t>
                      </a:r>
                      <a:endParaRPr kumimoji="0" lang="es-ES" sz="1600" u="none" strike="noStrike" cap="none" normalizeH="0" baseline="0" dirty="0">
                        <a:ln>
                          <a:solidFill>
                            <a:schemeClr val="tx1"/>
                          </a:solidFill>
                        </a:ln>
                        <a:effectLst/>
                        <a:latin typeface="+mn-lt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600" b="0" i="0" u="none" strike="noStrike" cap="none" normalizeH="0" baseline="0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0188" name="4 CuadroTexto"/>
          <p:cNvSpPr txBox="1">
            <a:spLocks noChangeArrowheads="1"/>
          </p:cNvSpPr>
          <p:nvPr/>
        </p:nvSpPr>
        <p:spPr bwMode="auto">
          <a:xfrm>
            <a:off x="357158" y="785794"/>
            <a:ext cx="842962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s-CR" sz="2400" b="1" dirty="0"/>
              <a:t>Ejemplo de escala descriptiva utilizada para la autoevaluación relacionada con el cumplimiento de tareas</a:t>
            </a:r>
            <a:r>
              <a:rPr lang="es-CR" sz="2000" b="1" dirty="0"/>
              <a:t>:</a:t>
            </a:r>
            <a:endParaRPr lang="es-ES" sz="2800" b="1" dirty="0">
              <a:latin typeface="Albertus Medium"/>
            </a:endParaRPr>
          </a:p>
        </p:txBody>
      </p:sp>
    </p:spTree>
    <p:extLst>
      <p:ext uri="{BB962C8B-B14F-4D97-AF65-F5344CB8AC3E}">
        <p14:creationId xmlns:p14="http://schemas.microsoft.com/office/powerpoint/2010/main" val="1038489308"/>
      </p:ext>
    </p:extLst>
  </p:cSld>
  <p:clrMapOvr>
    <a:masterClrMapping/>
  </p:clrMapOvr>
  <p:transition>
    <p:dissolv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/>
          <p:cNvSpPr txBox="1">
            <a:spLocks noChangeArrowheads="1"/>
          </p:cNvSpPr>
          <p:nvPr/>
        </p:nvSpPr>
        <p:spPr>
          <a:xfrm>
            <a:off x="609600" y="762000"/>
            <a:ext cx="7772400" cy="1143000"/>
          </a:xfrm>
          <a:prstGeom prst="rect">
            <a:avLst/>
          </a:prstGeom>
        </p:spPr>
        <p:txBody>
          <a:bodyPr/>
          <a:lstStyle/>
          <a:p>
            <a:pPr algn="ctr" eaLnBrk="0" hangingPunct="0">
              <a:defRPr/>
            </a:pPr>
            <a:r>
              <a:rPr lang="es-ES" sz="2400" b="1" kern="0" dirty="0">
                <a:solidFill>
                  <a:srgbClr val="CC6600"/>
                </a:solidFill>
                <a:ea typeface="+mj-ea"/>
                <a:cs typeface="Arial" pitchFamily="34" charset="0"/>
              </a:rPr>
              <a:t>REGISTRO DE DESEMPEÑO</a:t>
            </a:r>
          </a:p>
        </p:txBody>
      </p:sp>
      <p:sp>
        <p:nvSpPr>
          <p:cNvPr id="15364" name="3 Rectángulo"/>
          <p:cNvSpPr>
            <a:spLocks noChangeArrowheads="1"/>
          </p:cNvSpPr>
          <p:nvPr/>
        </p:nvSpPr>
        <p:spPr bwMode="auto">
          <a:xfrm>
            <a:off x="857224" y="2143117"/>
            <a:ext cx="757242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es-ES_tradnl" sz="2400" dirty="0">
                <a:latin typeface="Antique Olive"/>
              </a:rPr>
              <a:t>El registro de desempeño permite apreciar como se ejecuta el aprendizaje o habilidad.</a:t>
            </a:r>
            <a:endParaRPr lang="es-CR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7573" y="3933056"/>
            <a:ext cx="2047875" cy="223837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38706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536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7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4483858"/>
              </p:ext>
            </p:extLst>
          </p:nvPr>
        </p:nvGraphicFramePr>
        <p:xfrm>
          <a:off x="677063" y="2405792"/>
          <a:ext cx="7776863" cy="3399472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36108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20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31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209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0431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CR" sz="1400" b="1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	</a:t>
                      </a:r>
                      <a:endParaRPr lang="es-ES" sz="1400" b="1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CR" sz="1400" b="1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INDICADORES POR OBSERVAR 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s-ES" sz="1400" b="1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gradFill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ES" sz="1400" b="1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CR" sz="1400" b="1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CRITERIOS</a:t>
                      </a:r>
                      <a:endParaRPr lang="es-ES" sz="1400" b="1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gradFill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ES" sz="1400" b="1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CR" sz="1400" b="1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OBSERVACIONES</a:t>
                      </a:r>
                      <a:endParaRPr lang="es-ES" sz="1400" b="1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gradFill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15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es-CR" sz="1400" b="1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gradFill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CR" sz="1400" b="1" cap="all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Sí</a:t>
                      </a:r>
                      <a:endParaRPr lang="es-ES" sz="1200" b="1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gradFill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CR" sz="1400" b="1" cap="all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no</a:t>
                      </a:r>
                      <a:endParaRPr lang="es-ES" sz="1200" b="1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gradFill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es-CR" sz="1400" b="1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gradFill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808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ES" sz="1600" strike="noStrike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Reconoce elementos básicos de …</a:t>
                      </a:r>
                    </a:p>
                  </a:txBody>
                  <a:tcPr marL="44450" marR="44450" marT="0" marB="0">
                    <a:gradFill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CR" sz="1400" dirty="0">
                          <a:solidFill>
                            <a:schemeClr val="tx1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4450" marR="44450" marT="0" marB="0">
                    <a:gradFill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s-CR" sz="1400" dirty="0">
                        <a:solidFill>
                          <a:schemeClr val="bg1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gradFill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CR" sz="1400" dirty="0">
                          <a:solidFill>
                            <a:schemeClr val="tx1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SE LE AYUDÓ</a:t>
                      </a:r>
                    </a:p>
                  </a:txBody>
                  <a:tcPr marL="44450" marR="44450" marT="0" marB="0">
                    <a:gradFill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808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ES" sz="1600" strike="noStrike" dirty="0">
                          <a:latin typeface="Times New Roman"/>
                          <a:ea typeface="Times New Roman"/>
                          <a:cs typeface="Times New Roman"/>
                        </a:rPr>
                        <a:t>Describe las partes de …</a:t>
                      </a:r>
                    </a:p>
                  </a:txBody>
                  <a:tcPr marL="44450" marR="44450" marT="0" marB="0">
                    <a:gradFill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s-CR" sz="14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gradFill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CR" sz="1400" dirty="0">
                          <a:latin typeface="Arial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44450" marR="44450" marT="0" marB="0">
                    <a:gradFill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CR" sz="1400" dirty="0">
                          <a:latin typeface="Arial"/>
                          <a:ea typeface="Times New Roman"/>
                          <a:cs typeface="Times New Roman"/>
                        </a:rPr>
                        <a:t>SE ASIGNA TAREA COMO REPASO</a:t>
                      </a:r>
                    </a:p>
                  </a:txBody>
                  <a:tcPr marL="44450" marR="44450" marT="0" marB="0">
                    <a:gradFill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9230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s-ES" sz="1600" strike="sngStrike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gradFill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s-CR" sz="14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gradFill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s-CR" sz="14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gradFill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s-CR" sz="14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gradFill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15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CR" sz="1400" b="1" dirty="0"/>
                        <a:t>TOTAL</a:t>
                      </a:r>
                      <a:endParaRPr lang="es-ES" sz="1400" b="1" dirty="0">
                        <a:solidFill>
                          <a:schemeClr val="bg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gradFill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s-CR" sz="14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gradFill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s-CR" sz="14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gradFill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s-CR" sz="14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gradFill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2274" name="3 CuadroTexto"/>
          <p:cNvSpPr txBox="1">
            <a:spLocks noChangeArrowheads="1"/>
          </p:cNvSpPr>
          <p:nvPr/>
        </p:nvSpPr>
        <p:spPr bwMode="auto">
          <a:xfrm>
            <a:off x="539552" y="620688"/>
            <a:ext cx="7926768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endParaRPr lang="es-CR" b="1" dirty="0">
              <a:solidFill>
                <a:srgbClr val="FF9900"/>
              </a:solidFill>
              <a:latin typeface="Calibri" pitchFamily="34" charset="0"/>
            </a:endParaRPr>
          </a:p>
          <a:p>
            <a:pPr algn="ctr"/>
            <a:r>
              <a:rPr lang="es-CR" sz="2000" b="1" dirty="0">
                <a:solidFill>
                  <a:srgbClr val="002060"/>
                </a:solidFill>
                <a:latin typeface="Calibri" pitchFamily="34" charset="0"/>
              </a:rPr>
              <a:t>REGISTRO DE DESEMPEÑO </a:t>
            </a:r>
            <a:endParaRPr lang="es-ES" sz="2000" dirty="0">
              <a:solidFill>
                <a:srgbClr val="002060"/>
              </a:solidFill>
              <a:latin typeface="Calibri" pitchFamily="34" charset="0"/>
            </a:endParaRPr>
          </a:p>
          <a:p>
            <a:pPr algn="ctr"/>
            <a:r>
              <a:rPr lang="es-CR" dirty="0">
                <a:solidFill>
                  <a:srgbClr val="FF9900"/>
                </a:solidFill>
                <a:latin typeface="Calibri" pitchFamily="34" charset="0"/>
              </a:rPr>
              <a:t> </a:t>
            </a:r>
            <a:endParaRPr lang="es-ES" dirty="0">
              <a:solidFill>
                <a:srgbClr val="FF9900"/>
              </a:solidFill>
              <a:latin typeface="Calibri" pitchFamily="34" charset="0"/>
            </a:endParaRPr>
          </a:p>
          <a:p>
            <a:r>
              <a:rPr lang="es-CR" sz="1400" dirty="0">
                <a:latin typeface="Calibri" pitchFamily="34" charset="0"/>
              </a:rPr>
              <a:t>Nombre del estudiante __________________________________nivel _______ Fecha: __________</a:t>
            </a:r>
            <a:endParaRPr lang="es-ES" sz="1400" dirty="0">
              <a:latin typeface="Calibri" pitchFamily="34" charset="0"/>
            </a:endParaRPr>
          </a:p>
          <a:p>
            <a:r>
              <a:rPr lang="es-CR" sz="1400" dirty="0">
                <a:latin typeface="Calibri" pitchFamily="34" charset="0"/>
              </a:rPr>
              <a:t>Aprendizaje esperado:  __________________________________________</a:t>
            </a:r>
            <a:r>
              <a:rPr lang="es-CR" dirty="0">
                <a:latin typeface="Calibri" pitchFamily="34" charset="0"/>
              </a:rPr>
              <a:t>______________</a:t>
            </a:r>
            <a:endParaRPr lang="es-ES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7573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2"/>
          <p:cNvSpPr txBox="1">
            <a:spLocks noChangeArrowheads="1"/>
          </p:cNvSpPr>
          <p:nvPr/>
        </p:nvSpPr>
        <p:spPr bwMode="auto">
          <a:xfrm>
            <a:off x="2000232" y="1027113"/>
            <a:ext cx="542928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s-CR" sz="2400" b="1" dirty="0">
                <a:solidFill>
                  <a:schemeClr val="accent5">
                    <a:lumMod val="75000"/>
                  </a:schemeClr>
                </a:solidFill>
                <a:cs typeface="Arial" pitchFamily="34" charset="0"/>
              </a:rPr>
              <a:t>Lista de Cotejo         </a:t>
            </a:r>
            <a:endParaRPr lang="es-ES" sz="2400" b="1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17412" name="3 Rectángulo"/>
          <p:cNvSpPr>
            <a:spLocks noChangeArrowheads="1"/>
          </p:cNvSpPr>
          <p:nvPr/>
        </p:nvSpPr>
        <p:spPr bwMode="auto">
          <a:xfrm>
            <a:off x="785813" y="1857364"/>
            <a:ext cx="7786687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es-ES" sz="2000" dirty="0"/>
              <a:t>Son listas de palabras, frases u oraciones que expresan conductas dicotómicas (sí - no, logrado-no logrado y otras). </a:t>
            </a:r>
          </a:p>
          <a:p>
            <a:pPr algn="just"/>
            <a:endParaRPr lang="es-ES" sz="2000" dirty="0"/>
          </a:p>
          <a:p>
            <a:pPr algn="just">
              <a:buFont typeface="Arial" pitchFamily="34" charset="0"/>
              <a:buChar char="•"/>
            </a:pPr>
            <a:r>
              <a:rPr lang="es-ES" sz="2000" dirty="0"/>
              <a:t>Se emplean para valorar aspectos específicos.</a:t>
            </a:r>
          </a:p>
          <a:p>
            <a:pPr algn="just"/>
            <a:endParaRPr lang="es-CR" sz="2000" dirty="0"/>
          </a:p>
          <a:p>
            <a:pPr algn="just">
              <a:buFont typeface="Arial" pitchFamily="34" charset="0"/>
              <a:buChar char="•"/>
            </a:pPr>
            <a:r>
              <a:rPr lang="es-ES" sz="2000" dirty="0"/>
              <a:t>Proporciona información en la que se señala si una característica dada está presente o no. </a:t>
            </a:r>
            <a:endParaRPr lang="es-CR" sz="2000" dirty="0"/>
          </a:p>
        </p:txBody>
      </p:sp>
    </p:spTree>
    <p:extLst>
      <p:ext uri="{BB962C8B-B14F-4D97-AF65-F5344CB8AC3E}">
        <p14:creationId xmlns:p14="http://schemas.microsoft.com/office/powerpoint/2010/main" val="474423158"/>
      </p:ext>
    </p:extLst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8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ext Box 96"/>
          <p:cNvSpPr txBox="1">
            <a:spLocks noChangeArrowheads="1"/>
          </p:cNvSpPr>
          <p:nvPr/>
        </p:nvSpPr>
        <p:spPr bwMode="auto">
          <a:xfrm>
            <a:off x="755576" y="476672"/>
            <a:ext cx="756084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endParaRPr lang="es-MX" sz="1200" b="1" dirty="0">
              <a:solidFill>
                <a:schemeClr val="accent5">
                  <a:lumMod val="75000"/>
                </a:schemeClr>
              </a:solidFill>
            </a:endParaRPr>
          </a:p>
          <a:p>
            <a:pPr algn="ctr">
              <a:spcBef>
                <a:spcPct val="50000"/>
              </a:spcBef>
            </a:pPr>
            <a:r>
              <a:rPr lang="es-MX" sz="1600" b="1" dirty="0">
                <a:solidFill>
                  <a:schemeClr val="accent5">
                    <a:lumMod val="75000"/>
                  </a:schemeClr>
                </a:solidFill>
              </a:rPr>
              <a:t>Lista de Cotejo</a:t>
            </a:r>
          </a:p>
          <a:p>
            <a:pPr algn="ctr">
              <a:spcBef>
                <a:spcPct val="50000"/>
              </a:spcBef>
            </a:pPr>
            <a:endParaRPr lang="es-MX" sz="1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graphicFrame>
        <p:nvGraphicFramePr>
          <p:cNvPr id="4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0507287"/>
              </p:ext>
            </p:extLst>
          </p:nvPr>
        </p:nvGraphicFramePr>
        <p:xfrm>
          <a:off x="794183" y="1268760"/>
          <a:ext cx="7531200" cy="4092841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5112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4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1617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ES" sz="16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CR" sz="16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Indicadores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s-ES" sz="16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haroni" panose="02010803020104030203" pitchFamily="2" charset="-79"/>
                        <a:ea typeface="Times New Roman"/>
                        <a:cs typeface="Aharoni" panose="02010803020104030203" pitchFamily="2" charset="-79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ES" sz="16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CR" sz="1600" b="1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SI</a:t>
                      </a:r>
                      <a:endParaRPr lang="es-ES" sz="1600" b="1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haroni" panose="02010803020104030203" pitchFamily="2" charset="-79"/>
                        <a:ea typeface="Times New Roman"/>
                        <a:cs typeface="Aharoni" panose="02010803020104030203" pitchFamily="2" charset="-79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indent="495300" algn="ctr">
                        <a:spcAft>
                          <a:spcPts val="0"/>
                        </a:spcAft>
                      </a:pPr>
                      <a:endParaRPr lang="es-ES" sz="16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haroni" panose="02010803020104030203" pitchFamily="2" charset="-79"/>
                        <a:cs typeface="Aharoni" panose="02010803020104030203" pitchFamily="2" charset="-79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CR" sz="16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haroni" panose="02010803020104030203" pitchFamily="2" charset="-79"/>
                          <a:cs typeface="Aharoni" panose="02010803020104030203" pitchFamily="2" charset="-79"/>
                        </a:rPr>
                        <a:t>NO</a:t>
                      </a:r>
                      <a:endParaRPr lang="es-ES" sz="16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haroni" panose="02010803020104030203" pitchFamily="2" charset="-79"/>
                        <a:ea typeface="Times New Roman"/>
                        <a:cs typeface="Aharoni" panose="02010803020104030203" pitchFamily="2" charset="-79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2083"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s-ES" sz="20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Ejecuta el movimiento de estabilidad de flexión.</a:t>
                      </a:r>
                      <a:endParaRPr lang="es-E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s-ES" sz="16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s-ES" sz="16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2083"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s-ES" sz="2000" dirty="0">
                          <a:effectLst/>
                          <a:latin typeface="Times New Roman"/>
                          <a:ea typeface="Calibri"/>
                          <a:cs typeface="Times New Roman"/>
                        </a:rPr>
                        <a:t>Utiliza el espacio físico de acuerdo con el movimiento de estabilidad de flexión</a:t>
                      </a:r>
                      <a:endParaRPr lang="es-E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s-ES" sz="16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s-ES" sz="16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0421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s-ES" sz="1400" b="0" strike="noStrike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s-ES" sz="16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s-ES" sz="16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2083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s-ES" sz="1400" b="0" strike="sngStrike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s-ES" sz="16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s-ES" sz="16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1 CuadroTexto"/>
          <p:cNvSpPr txBox="1"/>
          <p:nvPr/>
        </p:nvSpPr>
        <p:spPr>
          <a:xfrm>
            <a:off x="755576" y="5445224"/>
            <a:ext cx="75608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dirty="0"/>
              <a:t>Observaciones_________________________________________________________________________________________________________________________________________________________________________________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82110879"/>
      </p:ext>
    </p:extLst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6" name="Text Box 6"/>
          <p:cNvSpPr txBox="1">
            <a:spLocks noChangeArrowheads="1"/>
          </p:cNvSpPr>
          <p:nvPr/>
        </p:nvSpPr>
        <p:spPr bwMode="auto">
          <a:xfrm>
            <a:off x="1071563" y="928688"/>
            <a:ext cx="72009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s-MX" sz="2800" b="1" dirty="0">
                <a:solidFill>
                  <a:schemeClr val="accent1">
                    <a:lumMod val="50000"/>
                  </a:schemeClr>
                </a:solidFill>
                <a:cs typeface="Arial" pitchFamily="34" charset="0"/>
              </a:rPr>
              <a:t>El Registro Anecdótico</a:t>
            </a:r>
            <a:endParaRPr lang="es-ES" sz="2800" b="1" dirty="0">
              <a:solidFill>
                <a:schemeClr val="accent1">
                  <a:lumMod val="50000"/>
                </a:schemeClr>
              </a:solidFill>
              <a:cs typeface="Arial" pitchFamily="34" charset="0"/>
            </a:endParaRPr>
          </a:p>
        </p:txBody>
      </p:sp>
      <p:sp>
        <p:nvSpPr>
          <p:cNvPr id="19460" name="4 Rectángulo"/>
          <p:cNvSpPr>
            <a:spLocks noChangeArrowheads="1"/>
          </p:cNvSpPr>
          <p:nvPr/>
        </p:nvSpPr>
        <p:spPr bwMode="auto">
          <a:xfrm>
            <a:off x="1000100" y="2357430"/>
            <a:ext cx="714380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es-ES_tradnl" sz="2400" dirty="0">
                <a:latin typeface="Calibri" pitchFamily="34" charset="0"/>
              </a:rPr>
              <a:t>Proporciona una descripción del comportamiento del estudiante en situaciones naturales. </a:t>
            </a:r>
          </a:p>
          <a:p>
            <a:pPr algn="just"/>
            <a:endParaRPr lang="es-ES_tradnl" sz="2400" dirty="0">
              <a:latin typeface="Calibri" pitchFamily="34" charset="0"/>
            </a:endParaRPr>
          </a:p>
          <a:p>
            <a:pPr algn="just"/>
            <a:r>
              <a:rPr lang="es-ES_tradnl" sz="2400" dirty="0">
                <a:latin typeface="Calibri" pitchFamily="34" charset="0"/>
              </a:rPr>
              <a:t>Consiste en una ficha personal del  estudiante, en la cual se realizan anotaciones de cualquier situación que se presenta. </a:t>
            </a:r>
            <a:endParaRPr lang="es-ES" sz="2400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319375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81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4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4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6" grpId="0"/>
      <p:bldP spid="1946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3"/>
          <p:cNvSpPr>
            <a:spLocks noChangeArrowheads="1"/>
          </p:cNvSpPr>
          <p:nvPr/>
        </p:nvSpPr>
        <p:spPr bwMode="auto">
          <a:xfrm>
            <a:off x="442913" y="103188"/>
            <a:ext cx="8243887" cy="877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ctr"/>
            <a:endParaRPr lang="es-CR" sz="4400" dirty="0">
              <a:solidFill>
                <a:schemeClr val="tx2"/>
              </a:solidFill>
            </a:endParaRPr>
          </a:p>
        </p:txBody>
      </p:sp>
      <p:sp>
        <p:nvSpPr>
          <p:cNvPr id="56323" name="Rectangle 4"/>
          <p:cNvSpPr>
            <a:spLocks noChangeArrowheads="1"/>
          </p:cNvSpPr>
          <p:nvPr/>
        </p:nvSpPr>
        <p:spPr bwMode="auto">
          <a:xfrm>
            <a:off x="250825" y="2276475"/>
            <a:ext cx="8229600" cy="2765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just">
              <a:spcBef>
                <a:spcPct val="20000"/>
              </a:spcBef>
              <a:buFontTx/>
              <a:buChar char="•"/>
            </a:pPr>
            <a:endParaRPr lang="es-CR" sz="3200" dirty="0"/>
          </a:p>
        </p:txBody>
      </p:sp>
      <p:sp>
        <p:nvSpPr>
          <p:cNvPr id="56324" name="Text Box 128"/>
          <p:cNvSpPr txBox="1">
            <a:spLocks noChangeArrowheads="1"/>
          </p:cNvSpPr>
          <p:nvPr/>
        </p:nvSpPr>
        <p:spPr bwMode="auto">
          <a:xfrm>
            <a:off x="1504949" y="967300"/>
            <a:ext cx="611981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s-MX" sz="2000" b="1" dirty="0"/>
              <a:t>Ficha para un Registro Anecdótico</a:t>
            </a:r>
            <a:endParaRPr lang="es-ES" sz="2000" b="1" dirty="0"/>
          </a:p>
        </p:txBody>
      </p:sp>
      <p:graphicFrame>
        <p:nvGraphicFramePr>
          <p:cNvPr id="14" name="1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9697837"/>
              </p:ext>
            </p:extLst>
          </p:nvPr>
        </p:nvGraphicFramePr>
        <p:xfrm>
          <a:off x="799541" y="1722447"/>
          <a:ext cx="7530630" cy="4226833"/>
        </p:xfrm>
        <a:graphic>
          <a:graphicData uri="http://schemas.openxmlformats.org/drawingml/2006/table">
            <a:tbl>
              <a:tblPr/>
              <a:tblGrid>
                <a:gridCol w="7530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5022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R" sz="1600" dirty="0">
                          <a:latin typeface="Calibri"/>
                          <a:ea typeface="Calibri"/>
                          <a:cs typeface="Times New Roman"/>
                        </a:rPr>
                        <a:t>Centro</a:t>
                      </a:r>
                      <a:r>
                        <a:rPr lang="es-CR" sz="1600" baseline="0" dirty="0">
                          <a:latin typeface="Calibri"/>
                          <a:ea typeface="Calibri"/>
                          <a:cs typeface="Times New Roman"/>
                        </a:rPr>
                        <a:t> Educativo: …………………………………………………………………………………………….</a:t>
                      </a:r>
                      <a:endParaRPr lang="es-CR" sz="1600" dirty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R" sz="1600" dirty="0">
                          <a:latin typeface="Calibri"/>
                          <a:ea typeface="Calibri"/>
                          <a:cs typeface="Times New Roman"/>
                        </a:rPr>
                        <a:t>Nombre del estudiante. ……………………………………  Sección:  …………Fecha:</a:t>
                      </a:r>
                      <a:r>
                        <a:rPr lang="es-CR" sz="1600" baseline="0" dirty="0">
                          <a:latin typeface="Calibri"/>
                          <a:ea typeface="Calibri"/>
                          <a:cs typeface="Times New Roman"/>
                        </a:rPr>
                        <a:t> ………..</a:t>
                      </a:r>
                      <a:endParaRPr lang="es-CR" sz="1600" u="sng" dirty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R" sz="1600" dirty="0">
                          <a:latin typeface="Calibri"/>
                          <a:ea typeface="Calibri"/>
                          <a:cs typeface="Times New Roman"/>
                        </a:rPr>
                        <a:t>Docente:</a:t>
                      </a:r>
                      <a:r>
                        <a:rPr lang="es-CR" sz="1600" baseline="0" dirty="0">
                          <a:latin typeface="Calibri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es-CR" sz="1600" dirty="0">
                          <a:latin typeface="Calibri"/>
                          <a:ea typeface="Calibri"/>
                          <a:cs typeface="Times New Roman"/>
                        </a:rPr>
                        <a:t>…………………………………………………………………………………………………………..    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R" sz="1600" dirty="0">
                          <a:latin typeface="Calibri"/>
                          <a:ea typeface="Calibri"/>
                          <a:cs typeface="Times New Roman"/>
                        </a:rPr>
                        <a:t>                                    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6605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s-CR" sz="1100" dirty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R" sz="1400" b="1" dirty="0">
                          <a:latin typeface="Calibri"/>
                          <a:ea typeface="Calibri"/>
                          <a:cs typeface="Times New Roman"/>
                        </a:rPr>
                        <a:t>SITUACIÓN</a:t>
                      </a:r>
                      <a:r>
                        <a:rPr lang="es-CR" sz="1400" b="1" baseline="0" dirty="0">
                          <a:latin typeface="Calibri"/>
                          <a:ea typeface="Calibri"/>
                          <a:cs typeface="Times New Roman"/>
                        </a:rPr>
                        <a:t> OBSERVADA:</a:t>
                      </a:r>
                      <a:endParaRPr lang="es-CR" sz="1400" b="1" dirty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R" sz="1400" dirty="0">
                          <a:latin typeface="Calibri"/>
                          <a:ea typeface="Calibri"/>
                          <a:cs typeface="Times New Roman"/>
                        </a:rPr>
                        <a:t>…………………………………………………………………………………………………………………………………….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R" sz="1400" dirty="0">
                          <a:latin typeface="Calibri"/>
                          <a:ea typeface="Calibri"/>
                          <a:cs typeface="Times New Roman"/>
                        </a:rPr>
                        <a:t>…………………………………………………………………………………………………………………………………….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ES_tradnl" sz="1400" b="1" dirty="0">
                          <a:latin typeface="Calibri"/>
                          <a:ea typeface="Calibri"/>
                          <a:cs typeface="Times New Roman"/>
                        </a:rPr>
                        <a:t>COMENTARIO:</a:t>
                      </a:r>
                      <a:endParaRPr lang="es-CR" sz="1400" b="1" dirty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R" sz="1400" dirty="0">
                          <a:latin typeface="Calibri"/>
                          <a:ea typeface="Calibri"/>
                          <a:cs typeface="Times New Roman"/>
                        </a:rPr>
                        <a:t>…………………………………………………………………………………………………………………………………….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CR" sz="1400" dirty="0">
                          <a:latin typeface="Calibri"/>
                          <a:ea typeface="Calibri"/>
                          <a:cs typeface="Times New Roman"/>
                        </a:rPr>
                        <a:t>……………………………………………………………………………………………………………………………………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3790504"/>
      </p:ext>
    </p:extLst>
  </p:cSld>
  <p:clrMapOvr>
    <a:masterClrMapping/>
  </p:clrMapOvr>
  <p:transition>
    <p:plus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1 Título"/>
          <p:cNvSpPr>
            <a:spLocks noGrp="1"/>
          </p:cNvSpPr>
          <p:nvPr>
            <p:ph type="title"/>
          </p:nvPr>
        </p:nvSpPr>
        <p:spPr>
          <a:xfrm>
            <a:off x="2411760" y="908720"/>
            <a:ext cx="4543425" cy="776287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CR" sz="2400" b="1" dirty="0">
                <a:solidFill>
                  <a:srgbClr val="CC0066"/>
                </a:solidFill>
                <a:latin typeface="Arial" pitchFamily="34" charset="0"/>
                <a:cs typeface="Arial" pitchFamily="34" charset="0"/>
              </a:rPr>
              <a:t>¿QUÉ ES UNA RÚBRICA? </a:t>
            </a:r>
          </a:p>
        </p:txBody>
      </p:sp>
      <p:sp>
        <p:nvSpPr>
          <p:cNvPr id="58371" name="2 CuadroTexto"/>
          <p:cNvSpPr txBox="1">
            <a:spLocks noChangeArrowheads="1"/>
          </p:cNvSpPr>
          <p:nvPr/>
        </p:nvSpPr>
        <p:spPr bwMode="auto">
          <a:xfrm>
            <a:off x="467544" y="2060848"/>
            <a:ext cx="7704856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es-CR" sz="2400" dirty="0">
                <a:solidFill>
                  <a:srgbClr val="000000"/>
                </a:solidFill>
                <a:cs typeface="Arial" pitchFamily="34" charset="0"/>
              </a:rPr>
              <a:t>Las rúbricas son guías o escalas de evaluación donde se establecen niveles progresivos de dominio o pericia relativos al desempeño que una persona muestra respecto de un proceso o producción determinada.  </a:t>
            </a:r>
          </a:p>
          <a:p>
            <a:pPr algn="just"/>
            <a:endParaRPr lang="es-CR" sz="2400" dirty="0">
              <a:solidFill>
                <a:srgbClr val="000000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61318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1 CuadroTexto"/>
          <p:cNvSpPr txBox="1">
            <a:spLocks noChangeArrowheads="1"/>
          </p:cNvSpPr>
          <p:nvPr/>
        </p:nvSpPr>
        <p:spPr bwMode="auto">
          <a:xfrm>
            <a:off x="982004" y="825375"/>
            <a:ext cx="728662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CR" sz="2400" b="1" dirty="0">
                <a:solidFill>
                  <a:srgbClr val="CC0066"/>
                </a:solidFill>
                <a:cs typeface="Arial" pitchFamily="34" charset="0"/>
              </a:rPr>
              <a:t>PROCEDIMIENTO PARA ELABORAR RÚBRICAS</a:t>
            </a:r>
          </a:p>
        </p:txBody>
      </p:sp>
      <p:sp>
        <p:nvSpPr>
          <p:cNvPr id="3" name="2 CuadroTexto"/>
          <p:cNvSpPr txBox="1"/>
          <p:nvPr/>
        </p:nvSpPr>
        <p:spPr>
          <a:xfrm>
            <a:off x="683568" y="1916832"/>
            <a:ext cx="7776864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Clr>
                <a:srgbClr val="CC0066"/>
              </a:buClr>
              <a:buFont typeface="Wingdings" pitchFamily="2" charset="2"/>
              <a:buChar char="v"/>
              <a:defRPr/>
            </a:pPr>
            <a:r>
              <a:rPr lang="es-CR" sz="2000" b="1" dirty="0">
                <a:solidFill>
                  <a:srgbClr val="FFC000"/>
                </a:solidFill>
                <a:latin typeface="Arial" charset="0"/>
                <a:cs typeface="Arial" charset="0"/>
              </a:rPr>
              <a:t>Seleccionar</a:t>
            </a:r>
            <a:r>
              <a:rPr lang="es-CR" sz="2000" dirty="0">
                <a:solidFill>
                  <a:srgbClr val="000000"/>
                </a:solidFill>
                <a:latin typeface="Arial" charset="0"/>
                <a:cs typeface="Arial" charset="0"/>
              </a:rPr>
              <a:t> los contenidos procedimentales que fundamentan la actividad, tarea o trabajo a realizar.</a:t>
            </a:r>
          </a:p>
          <a:p>
            <a:pPr marL="342900" indent="-342900" algn="just">
              <a:buClr>
                <a:srgbClr val="CC0066"/>
              </a:buClr>
              <a:buFont typeface="Wingdings" pitchFamily="2" charset="2"/>
              <a:buChar char="v"/>
              <a:defRPr/>
            </a:pPr>
            <a:endParaRPr lang="es-CR" sz="2000" dirty="0">
              <a:solidFill>
                <a:srgbClr val="000000"/>
              </a:solidFill>
              <a:latin typeface="Arial" charset="0"/>
              <a:cs typeface="Arial" charset="0"/>
            </a:endParaRPr>
          </a:p>
          <a:p>
            <a:pPr marL="342900" indent="-342900" algn="just">
              <a:buClr>
                <a:srgbClr val="CC0066"/>
              </a:buClr>
              <a:buFont typeface="Wingdings" pitchFamily="2" charset="2"/>
              <a:buChar char="v"/>
              <a:defRPr/>
            </a:pPr>
            <a:r>
              <a:rPr lang="es-CR" sz="2000" b="1" dirty="0">
                <a:solidFill>
                  <a:srgbClr val="92D050"/>
                </a:solidFill>
                <a:latin typeface="Arial" charset="0"/>
                <a:cs typeface="Arial" charset="0"/>
              </a:rPr>
              <a:t>Identificar</a:t>
            </a:r>
            <a:r>
              <a:rPr lang="es-CR" sz="2000" dirty="0">
                <a:solidFill>
                  <a:srgbClr val="000000"/>
                </a:solidFill>
                <a:latin typeface="Arial" charset="0"/>
                <a:cs typeface="Arial" charset="0"/>
              </a:rPr>
              <a:t>  todos los indicadores que se desean evaluar de acuerdo con los conceptos, destrezas y actitudes que se requieren o se manifiestan al ejecutar o llevar a cabo la actividad, tarea o trabajo.</a:t>
            </a:r>
          </a:p>
          <a:p>
            <a:pPr marL="342900" indent="-342900" algn="just">
              <a:buClr>
                <a:srgbClr val="CC0066"/>
              </a:buClr>
              <a:buFont typeface="Wingdings" pitchFamily="2" charset="2"/>
              <a:buChar char="v"/>
              <a:defRPr/>
            </a:pPr>
            <a:endParaRPr lang="es-CR" sz="2000" dirty="0">
              <a:solidFill>
                <a:srgbClr val="000000"/>
              </a:solidFill>
              <a:latin typeface="Arial" charset="0"/>
              <a:cs typeface="Arial" charset="0"/>
            </a:endParaRPr>
          </a:p>
          <a:p>
            <a:pPr marL="342900" indent="-342900" algn="just">
              <a:buClr>
                <a:srgbClr val="CC0066"/>
              </a:buClr>
              <a:buFont typeface="Wingdings" pitchFamily="2" charset="2"/>
              <a:buChar char="v"/>
              <a:defRPr/>
            </a:pPr>
            <a:r>
              <a:rPr lang="es-CR" sz="2000" b="1" dirty="0">
                <a:solidFill>
                  <a:srgbClr val="0000FF"/>
                </a:solidFill>
                <a:latin typeface="Arial" charset="0"/>
                <a:cs typeface="Arial" charset="0"/>
              </a:rPr>
              <a:t>Elegir</a:t>
            </a:r>
            <a:r>
              <a:rPr lang="es-CR" sz="2000" dirty="0">
                <a:solidFill>
                  <a:srgbClr val="000000"/>
                </a:solidFill>
                <a:latin typeface="Arial" charset="0"/>
                <a:cs typeface="Arial" charset="0"/>
              </a:rPr>
              <a:t> una escala  y asignar un valor numérico de acuerdo con el nivel de ejecución.</a:t>
            </a:r>
          </a:p>
          <a:p>
            <a:pPr algn="r">
              <a:defRPr/>
            </a:pPr>
            <a:endParaRPr lang="es-CR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36697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1 CuadroTexto"/>
          <p:cNvSpPr txBox="1">
            <a:spLocks noChangeArrowheads="1"/>
          </p:cNvSpPr>
          <p:nvPr/>
        </p:nvSpPr>
        <p:spPr bwMode="auto">
          <a:xfrm>
            <a:off x="785786" y="571480"/>
            <a:ext cx="7429552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s-CR" sz="2000" b="1" dirty="0">
                <a:latin typeface="Arial Rounded MT Bold" pitchFamily="34" charset="0"/>
              </a:rPr>
              <a:t>             </a:t>
            </a:r>
          </a:p>
          <a:p>
            <a:pPr algn="ctr"/>
            <a:r>
              <a:rPr lang="es-CR" sz="2400" b="1" dirty="0">
                <a:solidFill>
                  <a:srgbClr val="CC0066"/>
                </a:solidFill>
                <a:cs typeface="Arial" pitchFamily="34" charset="0"/>
              </a:rPr>
              <a:t>COMPONENTES ESENCIALES DE LAS RÚBRICAS</a:t>
            </a:r>
          </a:p>
          <a:p>
            <a:pPr algn="ctr"/>
            <a:endParaRPr lang="es-CR" sz="2000" b="1" dirty="0">
              <a:latin typeface="Arial Rounded MT Bold" pitchFamily="34" charset="0"/>
            </a:endParaRPr>
          </a:p>
        </p:txBody>
      </p:sp>
      <p:sp>
        <p:nvSpPr>
          <p:cNvPr id="61443" name="2 CuadroTexto"/>
          <p:cNvSpPr txBox="1">
            <a:spLocks noChangeArrowheads="1"/>
          </p:cNvSpPr>
          <p:nvPr/>
        </p:nvSpPr>
        <p:spPr bwMode="auto">
          <a:xfrm>
            <a:off x="857249" y="2204864"/>
            <a:ext cx="7286625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58775" indent="-358775">
              <a:spcAft>
                <a:spcPts val="1200"/>
              </a:spcAft>
              <a:buClr>
                <a:srgbClr val="990099"/>
              </a:buClr>
              <a:buFont typeface="Wingdings" pitchFamily="2" charset="2"/>
              <a:buChar char="ü"/>
            </a:pPr>
            <a:r>
              <a:rPr lang="es-CR" sz="2800" b="1" dirty="0">
                <a:solidFill>
                  <a:srgbClr val="0000FF"/>
                </a:solidFill>
              </a:rPr>
              <a:t>Indicadores</a:t>
            </a:r>
          </a:p>
          <a:p>
            <a:pPr marL="358775" indent="-358775">
              <a:spcAft>
                <a:spcPts val="1200"/>
              </a:spcAft>
              <a:buClr>
                <a:srgbClr val="990099"/>
              </a:buClr>
              <a:buFont typeface="Wingdings" pitchFamily="2" charset="2"/>
              <a:buChar char="ü"/>
            </a:pPr>
            <a:r>
              <a:rPr lang="es-CR" sz="2800" b="1" dirty="0">
                <a:solidFill>
                  <a:srgbClr val="92D050"/>
                </a:solidFill>
              </a:rPr>
              <a:t>Criterios </a:t>
            </a:r>
          </a:p>
          <a:p>
            <a:pPr marL="358775" indent="-358775">
              <a:spcAft>
                <a:spcPts val="1200"/>
              </a:spcAft>
              <a:buClr>
                <a:srgbClr val="990099"/>
              </a:buClr>
              <a:buFont typeface="Wingdings" pitchFamily="2" charset="2"/>
              <a:buChar char="ü"/>
            </a:pPr>
            <a:r>
              <a:rPr lang="es-CR" sz="2800" b="1" dirty="0">
                <a:solidFill>
                  <a:srgbClr val="990000"/>
                </a:solidFill>
              </a:rPr>
              <a:t>Niveles de la escala </a:t>
            </a:r>
            <a:r>
              <a:rPr lang="es-CR" sz="2800" dirty="0"/>
              <a:t>(</a:t>
            </a:r>
            <a:r>
              <a:rPr lang="es-CR" sz="2800" b="1" dirty="0">
                <a:solidFill>
                  <a:srgbClr val="FFC000"/>
                </a:solidFill>
              </a:rPr>
              <a:t>1-3</a:t>
            </a:r>
            <a:r>
              <a:rPr lang="es-CR" sz="2800" dirty="0"/>
              <a:t>/ </a:t>
            </a:r>
            <a:r>
              <a:rPr lang="es-CR" sz="2800" b="1" dirty="0">
                <a:solidFill>
                  <a:srgbClr val="92D050"/>
                </a:solidFill>
              </a:rPr>
              <a:t>1-4</a:t>
            </a:r>
            <a:r>
              <a:rPr lang="es-CR" sz="2800" dirty="0"/>
              <a:t>/</a:t>
            </a:r>
            <a:r>
              <a:rPr lang="es-CR" sz="2800" b="1" dirty="0">
                <a:solidFill>
                  <a:srgbClr val="0000FF"/>
                </a:solidFill>
              </a:rPr>
              <a:t>1-5</a:t>
            </a:r>
            <a:r>
              <a:rPr lang="es-CR" sz="2800" dirty="0"/>
              <a:t>)</a:t>
            </a:r>
          </a:p>
          <a:p>
            <a:pPr marL="358775" indent="-358775">
              <a:spcAft>
                <a:spcPts val="1200"/>
              </a:spcAft>
              <a:buClr>
                <a:srgbClr val="990099"/>
              </a:buClr>
              <a:buFont typeface="Wingdings" pitchFamily="2" charset="2"/>
              <a:buChar char="ü"/>
            </a:pPr>
            <a:r>
              <a:rPr lang="es-CR" sz="2800" b="1" dirty="0">
                <a:solidFill>
                  <a:srgbClr val="993300"/>
                </a:solidFill>
              </a:rPr>
              <a:t>Valores o puntuaciones según escala </a:t>
            </a:r>
          </a:p>
          <a:p>
            <a:pPr marL="358775" indent="-358775">
              <a:spcAft>
                <a:spcPts val="1200"/>
              </a:spcAft>
            </a:pPr>
            <a:r>
              <a:rPr lang="es-CR" sz="2800" dirty="0"/>
              <a:t>                   </a:t>
            </a:r>
            <a:endParaRPr lang="es-CR" sz="2000" dirty="0"/>
          </a:p>
        </p:txBody>
      </p:sp>
    </p:spTree>
    <p:extLst>
      <p:ext uri="{BB962C8B-B14F-4D97-AF65-F5344CB8AC3E}">
        <p14:creationId xmlns:p14="http://schemas.microsoft.com/office/powerpoint/2010/main" val="6996837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3"/>
          </p:nvPr>
        </p:nvSpPr>
        <p:spPr>
          <a:xfrm>
            <a:off x="371475" y="404664"/>
            <a:ext cx="8401050" cy="3500438"/>
          </a:xfrm>
        </p:spPr>
        <p:txBody>
          <a:bodyPr rtlCol="0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endParaRPr lang="es-CR" sz="2000" dirty="0">
              <a:solidFill>
                <a:srgbClr val="FF6600"/>
              </a:solidFill>
            </a:endParaRP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endParaRPr lang="es-CR" sz="2000" dirty="0">
              <a:solidFill>
                <a:srgbClr val="FF6600"/>
              </a:solidFill>
            </a:endParaRPr>
          </a:p>
          <a:p>
            <a:pPr algn="ctr" eaLnBrk="1" fontAlgn="auto" hangingPunct="1">
              <a:spcAft>
                <a:spcPts val="0"/>
              </a:spcAft>
              <a:buFontTx/>
              <a:buNone/>
              <a:defRPr/>
            </a:pPr>
            <a:endParaRPr lang="es-CR" dirty="0">
              <a:solidFill>
                <a:srgbClr val="000000"/>
              </a:solidFill>
            </a:endParaRPr>
          </a:p>
          <a:p>
            <a:pPr algn="ctr" eaLnBrk="1" fontAlgn="auto" hangingPunct="1">
              <a:spcAft>
                <a:spcPts val="0"/>
              </a:spcAft>
              <a:buFontTx/>
              <a:buNone/>
              <a:defRPr/>
            </a:pPr>
            <a:endParaRPr lang="es-CR" dirty="0">
              <a:solidFill>
                <a:srgbClr val="000000"/>
              </a:solidFill>
            </a:endParaRPr>
          </a:p>
          <a:p>
            <a:pPr algn="ctr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s-CR" b="1" dirty="0">
                <a:solidFill>
                  <a:schemeClr val="accent5">
                    <a:lumMod val="75000"/>
                  </a:schemeClr>
                </a:solidFill>
              </a:rPr>
              <a:t>RÚBRICA ANALÍTICA</a:t>
            </a:r>
          </a:p>
          <a:p>
            <a:pPr marL="354013" indent="-354013" algn="just" eaLnBrk="1" fontAlgn="auto" hangingPunct="1">
              <a:spcAft>
                <a:spcPts val="0"/>
              </a:spcAft>
              <a:buFontTx/>
              <a:buNone/>
              <a:defRPr/>
            </a:pPr>
            <a:endParaRPr lang="es-CR" sz="1800" dirty="0"/>
          </a:p>
          <a:p>
            <a:pPr marL="354013" indent="-354013" algn="just" eaLnBrk="1" fontAlgn="auto" hangingPunct="1">
              <a:spcAft>
                <a:spcPts val="0"/>
              </a:spcAft>
              <a:buFontTx/>
              <a:buNone/>
              <a:defRPr/>
            </a:pPr>
            <a:endParaRPr lang="es-CR" sz="1800" dirty="0"/>
          </a:p>
          <a:p>
            <a:pPr marL="354013" indent="-354013" algn="just" eaLnBrk="1" fontAlgn="auto" hangingPunct="1">
              <a:spcAft>
                <a:spcPts val="0"/>
              </a:spcAft>
              <a:buFontTx/>
              <a:buNone/>
              <a:defRPr/>
            </a:pPr>
            <a:endParaRPr lang="es-CR" sz="1800" dirty="0"/>
          </a:p>
          <a:p>
            <a:pPr marL="354013" indent="-354013" algn="just" eaLnBrk="1" fontAlgn="auto" hangingPunct="1">
              <a:lnSpc>
                <a:spcPct val="150000"/>
              </a:lnSpc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s-CR" dirty="0">
                <a:solidFill>
                  <a:srgbClr val="000000"/>
                </a:solidFill>
              </a:rPr>
              <a:t>La rúbrica analítica es más amplia, específica y definitiva para la evaluación.</a:t>
            </a:r>
          </a:p>
          <a:p>
            <a:pPr marL="354013" indent="-354013" algn="just" eaLnBrk="1" fontAlgn="auto" hangingPunct="1">
              <a:spcAft>
                <a:spcPts val="0"/>
              </a:spcAft>
              <a:buFontTx/>
              <a:buBlip>
                <a:blip r:embed="rId2"/>
              </a:buBlip>
              <a:defRPr/>
            </a:pPr>
            <a:endParaRPr lang="es-CR" sz="1800" dirty="0"/>
          </a:p>
          <a:p>
            <a:pPr marL="354013" indent="-354013" algn="just" eaLnBrk="1" fontAlgn="auto" hangingPunct="1">
              <a:spcAft>
                <a:spcPts val="0"/>
              </a:spcAft>
              <a:buFontTx/>
              <a:buBlip>
                <a:blip r:embed="rId2"/>
              </a:buBlip>
              <a:defRPr/>
            </a:pPr>
            <a:endParaRPr lang="es-CR" sz="1800" dirty="0"/>
          </a:p>
          <a:p>
            <a:pPr marL="354013" indent="-354013" algn="just" eaLnBrk="1" fontAlgn="auto" hangingPunct="1">
              <a:spcAft>
                <a:spcPts val="0"/>
              </a:spcAft>
              <a:buFontTx/>
              <a:buBlip>
                <a:blip r:embed="rId2"/>
              </a:buBlip>
              <a:defRPr/>
            </a:pPr>
            <a:endParaRPr lang="es-CR" sz="1800" dirty="0"/>
          </a:p>
        </p:txBody>
      </p:sp>
    </p:spTree>
    <p:extLst>
      <p:ext uri="{BB962C8B-B14F-4D97-AF65-F5344CB8AC3E}">
        <p14:creationId xmlns:p14="http://schemas.microsoft.com/office/powerpoint/2010/main" val="16417127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b="1" dirty="0"/>
              <a:t>Ejemplo de rúbrica analítica</a:t>
            </a:r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4483142"/>
              </p:ext>
            </p:extLst>
          </p:nvPr>
        </p:nvGraphicFramePr>
        <p:xfrm>
          <a:off x="1042988" y="2324100"/>
          <a:ext cx="6777036" cy="348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42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42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42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42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Indicador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ES" sz="1200" dirty="0"/>
                        <a:t>Criterios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Excelente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Muy Bueno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Bueno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R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Identifica</a:t>
                      </a:r>
                      <a:r>
                        <a:rPr lang="es-CR" sz="12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R" sz="1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partes del </a:t>
                      </a:r>
                      <a:r>
                        <a:rPr lang="es-CR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cuerpo como las siguientes: </a:t>
                      </a:r>
                      <a:r>
                        <a:rPr lang="es-CR" sz="1200" b="1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cabeza</a:t>
                      </a:r>
                      <a:r>
                        <a:rPr lang="es-CR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ojos, nariz, boca, orejas </a:t>
                      </a:r>
                      <a:r>
                        <a:rPr lang="es-CR" sz="1200" b="1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tronco: </a:t>
                      </a:r>
                      <a:r>
                        <a:rPr lang="es-CR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hombros, pecho, ombligo, </a:t>
                      </a:r>
                      <a:r>
                        <a:rPr lang="es-CR" sz="1200" b="1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extremidades superiores</a:t>
                      </a:r>
                      <a:r>
                        <a:rPr lang="es-CR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brazos, manos, dedos,</a:t>
                      </a:r>
                      <a:r>
                        <a:rPr lang="es-CR" sz="12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R" sz="1200" b="1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extremidades inferiores</a:t>
                      </a:r>
                      <a:r>
                        <a:rPr lang="es-CR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piernas, pies, dedos. </a:t>
                      </a:r>
                      <a:endParaRPr lang="es-CR" sz="1200" dirty="0">
                        <a:effectLst/>
                      </a:endParaRPr>
                    </a:p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R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Identifica</a:t>
                      </a:r>
                      <a:r>
                        <a:rPr lang="es-CR" sz="12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todas</a:t>
                      </a:r>
                      <a:r>
                        <a:rPr lang="es-CR" sz="12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las </a:t>
                      </a:r>
                      <a:r>
                        <a:rPr lang="es-CR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partes</a:t>
                      </a:r>
                      <a:r>
                        <a:rPr lang="es-CR" sz="12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del cuerpo.</a:t>
                      </a:r>
                      <a:endParaRPr lang="es-ES" sz="1200" dirty="0"/>
                    </a:p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R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Identifica</a:t>
                      </a:r>
                      <a:r>
                        <a:rPr lang="es-CR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más</a:t>
                      </a:r>
                      <a:r>
                        <a:rPr lang="es-CR" sz="1400" b="1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 la mitad de</a:t>
                      </a:r>
                      <a:r>
                        <a:rPr lang="es-CR" sz="14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las </a:t>
                      </a:r>
                      <a:r>
                        <a:rPr lang="es-CR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partes</a:t>
                      </a:r>
                      <a:r>
                        <a:rPr lang="es-CR" sz="14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del cuerpo.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R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Identifica</a:t>
                      </a:r>
                      <a:r>
                        <a:rPr lang="es-CR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menos</a:t>
                      </a:r>
                      <a:r>
                        <a:rPr lang="es-CR" sz="1400" b="1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 la mitad de</a:t>
                      </a:r>
                      <a:r>
                        <a:rPr lang="es-CR" sz="14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las </a:t>
                      </a:r>
                      <a:r>
                        <a:rPr lang="es-CR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partes</a:t>
                      </a:r>
                      <a:r>
                        <a:rPr lang="es-CR" sz="14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del cuerpo.</a:t>
                      </a:r>
                      <a:endParaRPr lang="es-ES" sz="1400" dirty="0"/>
                    </a:p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79743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3"/>
          </p:nvPr>
        </p:nvSpPr>
        <p:spPr>
          <a:xfrm>
            <a:off x="462956" y="1556792"/>
            <a:ext cx="7853460" cy="3024336"/>
          </a:xfrm>
        </p:spPr>
        <p:txBody>
          <a:bodyPr rtlCol="0">
            <a:normAutofit/>
          </a:bodyPr>
          <a:lstStyle/>
          <a:p>
            <a:pPr marL="354013" indent="-354013" algn="just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s-CR" sz="2000" dirty="0">
                <a:solidFill>
                  <a:srgbClr val="000000"/>
                </a:solidFill>
              </a:rPr>
              <a:t>Considera el desempeño de los estudiantes como una </a:t>
            </a:r>
            <a:r>
              <a:rPr lang="es-CR" sz="2000" b="1" u="sng" dirty="0">
                <a:solidFill>
                  <a:srgbClr val="000000"/>
                </a:solidFill>
              </a:rPr>
              <a:t>totalidad</a:t>
            </a:r>
            <a:r>
              <a:rPr lang="es-CR" sz="2000" dirty="0">
                <a:solidFill>
                  <a:srgbClr val="000000"/>
                </a:solidFill>
              </a:rPr>
              <a:t> al compararse con los criterios establecidos.</a:t>
            </a:r>
          </a:p>
          <a:p>
            <a:pPr marL="354013" indent="-354013" algn="just" eaLnBrk="1" fontAlgn="auto" hangingPunct="1">
              <a:spcAft>
                <a:spcPts val="0"/>
              </a:spcAft>
              <a:buFontTx/>
              <a:buBlip>
                <a:blip r:embed="rId2"/>
              </a:buBlip>
              <a:defRPr/>
            </a:pPr>
            <a:endParaRPr lang="es-CR" sz="2000" dirty="0">
              <a:solidFill>
                <a:srgbClr val="000000"/>
              </a:solidFill>
            </a:endParaRPr>
          </a:p>
          <a:p>
            <a:pPr marL="354013" indent="-354013" algn="just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s-CR" sz="2000" dirty="0">
                <a:solidFill>
                  <a:srgbClr val="000000"/>
                </a:solidFill>
              </a:rPr>
              <a:t>Permite hacer una valoración del desempeño del estudiante, sin determinar o definir aspectos específicos que corresponden al proceso o tema evaluado.</a:t>
            </a:r>
          </a:p>
        </p:txBody>
      </p:sp>
      <p:sp>
        <p:nvSpPr>
          <p:cNvPr id="4" name="3 CuadroTexto"/>
          <p:cNvSpPr txBox="1"/>
          <p:nvPr/>
        </p:nvSpPr>
        <p:spPr>
          <a:xfrm>
            <a:off x="755576" y="476672"/>
            <a:ext cx="4752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s-CR" dirty="0">
                <a:solidFill>
                  <a:schemeClr val="accent5">
                    <a:lumMod val="75000"/>
                  </a:schemeClr>
                </a:solidFill>
                <a:latin typeface="Arial Rounded MT Bold" pitchFamily="34" charset="0"/>
              </a:rPr>
              <a:t>RÚBRICA GLOBAL U HOLÍSTICA</a:t>
            </a:r>
          </a:p>
        </p:txBody>
      </p:sp>
      <p:sp>
        <p:nvSpPr>
          <p:cNvPr id="2" name="AutoShape 2" descr="data:image/jpeg;base64,/9j/4AAQSkZJRgABAQAAAQABAAD/2wCEAAkGBxQSEhQUEhQVFhUXFRcXFxUYFxQXGBYXFBQcGBgYFxcYHCggGBolHBQXITEhJSkrLi4uGB8zODMsNygtLysBCgoKDg0OGxAQGywkICQsLCwsLCw0LCwsLCwsLCwsLCwsLCwsLCwsLCwsLCwsLCwsLCwsLCwsLCwsLCwsLCwsLP/AABEIALUBFgMBIgACEQEDEQH/xAAcAAABBQEBAQAAAAAAAAAAAAACAAEDBAYFBwj/xABUEAACAQIEAwYCBAcKCA8BAAABAhEAAwQSITEFQVEGEyJhcZEygUKhsdEHFBUjUlPBMzRDYnKSstPh8CVUZHSTs8TxFyREY2VzgoOio6S0w9LUFv/EABoBAAMBAQEBAAAAAAAAAAAAAAABAgMEBQb/xAAsEQACAgEEAgEDAwQDAAAAAAAAAQIRAwQSITFBURMUInEFMmGBsdHwFUJS/9oADAMBAAIRAxEAPwCuKKowaIGvfPnaJhSoVoxQOhjSoopRQIGKVFSigAaUUcUooEBFKKOKUUABTxRRTgUABlpZakAogtAEWWny1NkpZKBEMUx3A5kEj0WAf6Q96mKVFcPjRdPguHbX4rQGvTfTyNS3RUVY0U0VIRQkVRIEUop4pUDBilFFFKKBA0ooopooAGKUUQFKKAAilRxTRQAEU0VJFNFAgIpUUU9AGx4z2NQBjYzZiZALeFR+jrr8yaxl20UYq24MHntXreIxgUADxN0HX51wn7IC5mdySzEmc0QSZ5Dzrhw6hxX3np5cCk/sMElSCrnG+F/i1wJnzSszERrtv5UHD8GbrAAgeZ2rt3Jrd4OPa06K8U5q7f4XcUkEbc/761WvW8pimmn0S4tdkdPSpxTokUUqcU8UUAMUooopRRQDAUQFICjApCAzLOWRmicsiYmJjeJB1oi6jdlHqwH2mgXsRg8bcD37j23LeKLttVKKo1y3AdeXhjea5nansnwnB6i5cuECe5W7bfMJ3JUBlHU5h0EmuWeqhCW1no4dBLLFON8lq7x3CoJbEWfk6t/QmucvatbrhMJYu4h2YKsDIssYEsZI35gfKrHCu22CtMmTDMoWcqrasKoJ5/Hrvz1mNaPH/hBe4t57CshRALbOQxUs4SQmqghS3XX0rnlrl4OzF+jzb5i/69EGMTifeFEtWgNSXBtkKqiTlDOJOjbzOnw0fCjiDcJxKBCReNtAUIVC9rSV36SdTFZ5e2WKHxMj+bIoPp4Mo+qu72d4vcxLBrgUFUuqMoIEZrJ5k9aeLUb5pBq9BLBilJpV/B2SKAipiKAivRPBIopRRxTRTGDFKKKKaKABilFFFKgQMU2WjpRSGBFNFSEU0UCAIpoqSKaKAIyKapCKVAHYt9oWe4MoydddYGuhOgrUWePIttiXzETpv6TG015qKmW+wEAkDpNZz00ZHVHPKJ1+KcWW+QXUEg+YkTtVZ8QmYMgy7DKPt1rnk6bD160NaxxpKkZubbNHi8XbWGku8D4th5AAx51zcdjGvNmYKIEaCNvtNV8NZa4wVdW5AkCY5a1peEcEiTcmRuA3h+oa+lQ9uPllrdPozNEDXe7TdyAotrqDq0FTqNtdSPurl2rqgDwjYgyAd9yPb5VUZbo3RnKNOrK9OKSmTt7U4q6MxU8U4p6KAYCjUUgKICkBwu2IHdW+ucwY5ZRm15fQ05welZXC4Rr11LVoAltD0A5s0bADWvThxLDYe3cfF2hcTwQTbS5kbMQCFfqWA08uVcrtB+E3DGz3WCs3DdYnK7IijMwKiFUksQWkLESAK8XVaWU87l44PsP079XWHQrCo8883/N9GVsdicRmHjs7j6Tidf5Gldq12Ospbi/fyszaBWQLptrcHiOp2A3qieEcVQAJiQw01Z1zrIkhmdSTB00JqSz2Ja62fHYhrrREKToOmdxovkFFarRqzin+rZNtbl/Qvf8A8LYMAXrsn/q9fQZatcO4GMLeFsMWBsu8kAHW5bHL0qAdi8ECCLJ0/wCcu/8A2q1hsMtq+qWwQow7kAszRN5J1Yk8utax0+ySZxZtfLNBwbbLzrURFTGgNd6PJIiKaKOKUUxARSijilFAARSijilloAjilFHFKKAAimijilFAARTRUkU0UABFKiilSGU4pwvStaOxz5C2zSYTQ+HkSx29qu8B7JslxLjtEGcuhI02mIPtWb1WNK7OhafI3VGQucNuBgoVixA8IVpBPKpF4LiJAFm7roPAddCefpXsKKPane50ri/5GXiJ1rQx8s844f2LvkBmm2wO3hOnUQd/Ku4/DcTatkr+eMgajLpsTlGw/YK1WZjsKr3ncVjLVzm+aNVpoRXFnntzs1irpzZVPKcwE++4qtd7M4lQD3c6kQCJEcyOQr0K3i2XQihu4tm9DWy1uT0qMXpcdds8x/Fbi7o4jqCNt6s4awCpZhpPJlDefh51v7ty0FOfxT9GAfqrDvGdmB8MmOunTzFdeLO8vijlyYlj82Q4fBZycrLA3LELpPTnUVy0VMEV1ExyeEZQoAg8wSd/P66qYu4raKNB8OmsdD1rWLlfJjJRrgqAUQFICniroiwb1lXUq6qyndWAIMGRIOm4B+VBhsDatnMlq2jbZlRFPuBIqcU9JxQ1JpVYQpwaGlSoQ9UX/fS/5s3+vWr1c8/vsf5q3+vWomuvyaY/P4LhFCRUkUMVqZkcU0VJFKKdARxTxRxTRSoAYpoqSKUUUBHFKKkilFFARxTRUkUooAjimipYpstFARxSoiKeigPRxxa0YAdddtatti0iCRrtrXlEUQY9T7muJ6CPhnYte/R6Zb4rbLFSYI+Ue9Nf49ZQauoPv9m1ecDEP1JEzB2Mdake85UjQDmAInXnG9H0Eb5YfXyro9Cbj9soWDr6zpPnzri4riqtcQJimE/EFTSP4rHn71lMPcVZzWw0+ZEVPw/D3HeLQ+KR5AcwSdhVx0cIW7/sQ9XOdI3NnEWGgG678tYmfMqBrUNjhoU57mIK7wBlAK+eYGa4f5NxGGUkZCAdQpMmegiaoY97riXZYGwzT8us1lHTpv7ZcGss9fujyXe0Mh2UXJtwpUnUz1GUVwSPOff9tXbGCe59IaDclhPltUL4cr0PoQa7caUVts4sknJ7qIQKKiC0staGdjU9WcJgLl0wik/Z71ZxPBL1uMyb9CDHrG1Q5xTpvkpQk1aRzaejywdR8jI96JSOg+uqJsIWY39vXzqW7fUiBbUEaTrPzFEMSuWO7UEDRhpz5jY1WqKvstyS6GK+Vc4/vwf5o3/uFrpha5h/fwH+Rsf/AFK1GTx+Ssb7/DOhFNFSRTRWplZHFNFSFaaKYrAilFSRTZaAsCKUVJFLLQFkcUoqTLTZaAsCKaKkimIoHZGRSIoyKaKAsjilRxSoCyPJRBKlCUQSqIIMlPkqwEp8lArK3d1cwGLe2QA2UEidBp59abu6bu6TSapjUmnaLWJa47eG7n6QcpPPUGNapC60EcjuCOfX1qTu6c2/elGKSobm27IbbsNiR6Umk7mpclLLVE7iHLThaly0stAWajhPErFhcqkRE5jMluYI5UfEOOpBgyY0g/VWUy0stcj0cHLc2da1s1HakPicQXMt9/11FFSZKfJXUlXCOVyt2wAtOFqQLRBaTCyMLXFB/wAJx/kE++LH3VoclZ5R/hYj/o7/AGwVjlf7fybYed34Z2ytNlqfLQ5a2MSAillqbLTZaYrIopZaly02WgLI4poqRlpZaAsjilFSZaYrTFZFFKKly0xWgLIopoq0mEdtlJ+X31es8But+iPU/cKzlkhHtmscc5dI42WlXfHZ4j4rgHy+809ZfU4vZr9Nl9HHNkjcEUgtbE3yqkXOZ18P7RXFucOWc3eKAToDM+3Ss8erUv3cF5NI4/t5OUFowldmxwBju6j5Gnu8JA0D6iZMSPLatPqMd0mY/TZKto5C26kSzJjf01qZbdH3cCToBz2A+dW5GaiMOHMIJAA6kiNOoBmhxFyRlGw5wATJk/KeVPgb1u/c7q26lhv4ljeNNZPy8q0HD+EC3L3lGg0X4v8AeegrnlnguW7Z1R085cJUn5OEvBLxUNkMEiNp15kch60+O4O1oAkg+nL69a1+JuMEzEH+SBJ15H+ys9j7qkKBJIGsiNRtI61lj1OSbNsmlxQRwmtEUOSr7pUfdV3Rm2uTgyQSf2j4fCoyyWAIMEHzGhFPntow8Jccwco18iOVR93TZKW2+2LfS4Q+MvByCqZevOfqqvlqfJSCVapKkRKTk7ZCEogtTBaIJSbGiGK4eUflQaa/k9teo/G0gfLX3rSd3WUxeKFvjNpSCe9wYtCCPCWxDPmPlFoj1I86588q2/lHTp4tuX4ZpCtCVqzkpilb2c9FUrTZas5KbJTsmmV8tLJVjJRLZJ2FG5DUWyrlpitdBcCx5fsqe3w3rFRLPCPk1WnnLwcgWyatYfhjvsI8zXew2GVRtVxVrlnrv/KOrHoF/wBmcJOz53LH5QR8wSPqNWMPw9QVIQNodi8gxMnMgER1I+ZOnTa23n/2SJHyb+/qa4uNwTrAHfOsmF/OsILSFJBkASPpNoNiNK5J6nJLtnfj0uOPSOphcUhZlylCoWQ8A+LmBMkbagRrv0uXb4VQTp8jppOsbep0rEXLdhnBu4YF7bQFZ3XJI0dLjjKzkDQyImNCCDB+LXfG9m48NqUuXVdkuEZgCuZNSNQXuEGBAMg1zuR0bUujcW72csAD4TB08pkdRrHqCNxSryPjqYwtNn84g0KoEssh6PcW6xeIgAtqIMbSqNwbD07EcZtkxy86rNe7wwiqfQVStYdSY2YnTy967+A4flXVtOcECfnVNqJkk5FdLRtiQfkYH1GrB4mQBt9tBjcLbUyPXUkzXC4zxYr4FDM7KcuVSxUbZpEAakbmBz5Aq75KrbwVe0naZbasPAbugUaSpJJkzvoGMa6jUVixhxjBL3y5DjxuyZQp3GVATbMc4iIOWJhW+C965L3BmV4bOQ5cgajKh8TFiAADMSeVbS5hT3KBrndjQEstpQqCJWWZ2k6mJjn0mW5S76KjGC58mSWzhbLXENg3SHC940E2/BEhCApYtBA38xvXX4Nxi7hLs27t17TQDbukEKxAjIpaVBgrIOXRmBiFPIt4IYbEdyXW9hzmxGdiodXOj/BlDoxcNyUZTV3hvEFuXmVrirdJHc3AFOTKDmD5myrIBg7+QpJIts9Rw129dthmQ25+g8Zh7SK53dF7gV9NDrGwn+01nsP2zu5R3WUgaM13LbiVkZMvXlI965+P7U4xQXdbSZiQhNppI8gXGkgeI6eKfKtIZtvRlkxKXZtOJW0kBFgAe/r1qg1qshhO3dwtkfDy2VC2Vw0lhM+EGN10gxMEnStfwnGJftZwwDgS9uRKCSPFz5b6e+ldeLUJKmzjy6ZybaRGbdD3dWytPh7OZgDME8q6vlSVnH8Dbopd3TFK2TWUVQAogaxHlFZzFZA5J8I6DkfurCGsUn0b5NA4rso5etK2wJYc1MEEEbgHSRqNdxpII3BoWvLBB1BBHSQdN6WEwgBd9WOcESVhIsqAFgCBDt/OPPWtJ5mmqM4adNOywErycYln4+cxJK4tLS+SKcgUdB+0nrXrQujnp868gwrA8fczp+UQPbE5T+2sNRkuqOvS4q3HrhWorlpz8NdfHWbSjw7x5mfOub+MGYAPoAatai1wY/S7XyWcJw8kS5y+VTXrFpeU/M/fXGxOLaNyP7+tSWjA019TGtZyyTfLZrHFBcJF8BOSj56/bUtto20rl2bzgwwEdZmr6T5fXWcps0jFeCYXdY+flVi2w2kTXNxbOuXIySWUQw0IZgJkaiJ+c/Oia4o3MH2rK7NNtHaS3UgFZbGcbupKhht0B+czUWC4vcJl7g6R6c9qW19lb0jYLT5q4J41liWXz/3UVvjasYn0mocWXvR0saquCCoaRGpI+sax1rgYzgtuZUNbYSVa072yJ1OiwGE6w0jQHpHUbGAyBE9K4eJ4k2Yg+1NRE5B/knEAfmscGkzlv2UuFZAEAgj9EcutKormPSB4gDz0J/bTU9gvkZ57gPwmXUdRiFGU6Z0XKytPMEwViPMb616Xwji5v2hcUgg9eRGjAxIMEESCRpoSK+cMJeBuKHLFddiAcxXQeLQjMBPXXrXr34K+NB2bDnO5K94pCWgix8YZgAc4kAcsoWIpR65KcfRsb4JBzlegidPOfeuJxPBsUOTMxII+J00OmhB3+Y3JnStQbyzEf0arvikMjTTf4fTfartGbTMtgrHclTdc7FQIEAk5tByJnprp00q8XwQv3ATLE+HLmZAo6swA03PI+ugqPtB2rXD3CLdmbomTCxJEDX6UTp5+9DhOPi8XAR0vqphRkNtSr5IzyANY0ygkA761EpKi1F9ma4uzJiZlh4LtwAN4T3KljGgJByAxAk8hFZZ7vMyDOh6EAaa6E/DI31B9e7ibveMzNJud3fkggRnVBAHMSdI05VwLmKLODAA+GSqkCBBGU6QfFO31VjHk08G84L2iXuSxuB7hKm5YZBlU20hizkwttgy6KoPhI11rk4vjl+2YJ7u2RIS1bJRbeRvhBLKuVgSSoBUyeQC4+zYfvEgkEmAw0JB00jkQfafOu/i1cuBozqjKTmEfSB5yf3SNQdR1qnKhJBvjQ9vKyhCs5HTKBqRPeMBLsJQRKkFtdar4a86ZHSMyuC6EMVJVjAuwQcpIg7fFqRpVbikTEtr8QLEBXJA8YnquxjXfaq3Cb11M7207wMSjyudfHzYQQpOoDE9d9aqLHR732Y4uMZY71rXduGKMubMMy6+FvQiQdiY1rr27Ynp6b1gvwc8WQi7YznObzOqlCo1toWtgka3FKvKidBmGk1tVYjr8wfure7Rg4pSO01yV1rh41ATqKmOIPX+/tVa808x9X3VEVTHJ2R2sMgYTFdTCW1Peif4Qaf8Ac24+2uSF8x9VWMJfgt4h8Y5j9VbqpWxQSRY4hhDpJ06DavGMKv8Ahm55cU/24169i+K2w622uIruCUQkAuF3y9fTevGreNVOKXWchVHEpZyYCj8cZixJ5ACp5NYpI9wtWp57beVU3vsDMa9daiwnFLV3S1ftXCBJCXLbkDqQhMDUa1O1wU+jNooXLBYkwetJLZXcaGqfabh34xZCjEPh8ri4biqx0VHBBh108U7/AEag7NY2wtpLCY1MTcUOSwaXYG4zSRnYwAwG52qtwtnk6N+0522FSWMWy6EEHrrFTG6sbt8gfuqref8AlfZ9sUbrJ2ixeKPxOPh8QIB5ax8yAPnQYjFE6GDHvVTEEwxysfCwg5TMjTSZpkv5gGAkGfI7+u29HkbXA11yd/lQA1YFwRtQ/KnuJ2kRigCtyqyo/i/ZUqtHL7KW4ewgXGuBlmq966x3q8wnl9X9tQXcNPv0/t6TRuDaUXk70qvNa6iPaKajeGw8kxHZo98LNi5avOqKXCOWm5mVGCtlCmWuAATy1g6HeX+yD8IFnFYhluFhlKopAt3GtsCrEauMrOJGUeHzisV2Uxq2MQrsPhNsQJ1i6HI3/ijmK1nbntDfxWGe9adhZS4ivIswHZT4QwcsT4pIg6ANIGhwTadHVttWSv2yOndsAQPpgkMT8QIjwiZhhr+0sL2vIRgxt548AFxdIVVU+MDNqpbf6UeuEwmMvPcKlhMeI5V8I0OoC6cvarOIwd629oogJa2VzaEa3JJIJ3Hh6dK0bhZCxzZ08Sz3gzO0trouTLqQQfAZBmZ01ieek+BUWUYly3jkK0Qs6TIHinNz12OkmtGyYWx4A1mZKmTbLOVgeKTv5RAmjXjFmSq3F2Hwqxg78hExp79K8/JkcrUU6NFHjkyxwTsHGUElSoEXBvdtMSWAPK1sN5Nc4dl7jgRnBzaRbusFWZA8QDfSnU8j61vBxm2JIa5EtB7u8YjXXwQJA59R6VAO0Vmd7usH9wvwSdBAyajUa1KnkXSHSMXhOyF4NnbvzGw7uGiI1LNpMmK6Z4PdDm5F4syFSy92DOcnMPFoTmiRHWuvie0dsTBv6aj81e3zanQDl1jWPKqVztXbM63oAJLZL0iNAPhgT19etVeVhwcjEdm7jEwl5RADaIAxUlszTc0IkbREbUeB7OlQJR8xJ8RcKSraFcqnQypOYt9gNDiu1Vog5u8Gp0KMZUHSZOpIAMbRVO52hsMWjMdNPDsACSeh2G46TtWi+QfBp+BFMMC9207urBrI70QkZiCT8UkuykSdAZ317j9sLuYAYZAsgEm40rzMAfEYE8txXltvtBbmcrCCTyJPSYI+3kN6hvcZQiVBJZYIgiCDMjxGdl9Nflqnk9kuKZ6jc7a3tSMOkScua5cBgCdQFPl0mdBpVY9t8V/i1oaj+EukmSBoIHX3ryLEYksTvE7SdvPXeozc3mdd55z167Va3exbV6PYj22vn4bFuZ1LPcC79RPSht9ubi/ElqSZgNe1YIFhSRtKb+vSvHwPL7Knw2FZ82RM2US0RoIP3H2NOpewST4SPSMf2u7y7avtbXPZ+GGeJYTrIkzOwmszxDidlrlx2teNrrOxV7o/OZyx303Y+4rNagwVgjroR8qcKdPCaNvtiujWYPjhw7d7YyI5SAzFrngcgkZSIGqb9V5TVux+EnF6BxYI0k92w+xvsFYZ28qbNVJUI9KsdurmJu27AW0Fu3UtEZWzRcIQwZ38Rrm8f4c+Eui8hKMrZp2ysHKhlncSII841BNZzsk3/HsHP+NYfXp+eWvTvwqYIDC3mEab6jQ/jCaHz3rKT2yRpFWmZr/hDxHPuiZ5K0Rz+lvVi1+EF86tktsAQSjZvFEEjQxB1rz1E0FTJpWtfyYs+g7naPA4q1bfCtaRu+UG2xs27sT4vCWkjxA6TMaTXES/IEsnTW9h99iPC55g+1ZzsZ2YS4MLeF4ZjcVymhM2nzFSOWlvn1qhxDEjBMLZVmCW1ggidQeR81PyyjlUxlbpMqUG1bRr2vj9NPletaexp8Dgxir5w6uRcVDcIBUqoUqIZgrAsQ4MAHTc7CslxTiwTFPZuW89om3kCFQwNy0pAzOCIzNqY5HfSEThgoJs4ycq5ms4rDBVLfRhrZKwQRqdfnScm+Bwxpc2bfg/Zey95rRxF4XEZ/EvcgLkJVgM2H5Mpjkft5uL4mmExN2xiXvm2rsLd9BZYkRIF1Tb1/lJrrtzrgvxZsNYS5g2vpN64rriGtXmabaNqbaKuXSQNwQ3WutbtnG4W3euwbjZs5AAkhypjptUOTiXtTNFwPBtjBnsX1ZAwDHwj4ht+4nUdAdNq4/DeJXblvOUSVDlzmgRbuFGIWCdCu39lY/BY69gsTbuWWIKEsyS2R8umW4o38OYdROlBhu0l4ZkU20VnvEtkvsyJiGLtbEfEsgH4dx50Jy7TDbHyjXYHjveZ1b829u49siQQe7aJBIEg+lKsNfQyboxTuzMZyW7g3OY+FregnypVfyP1/czeN+B0gwtxFvFYGdSoKZRpDjQaBfTXTSTPYx8sQVK53DZnUqFYkKTLHUBQ4HrEnY8VeFYxUkWcUNYgJdgR8vs86B8DjgZ7nEwI/g7wnlsRrt0rJ17O6OpklVI72C4qiORcCzoHzAZmEwSjZgA2VUgnrqaN7guqRcWJUy2cG2MskKoBO8LqZ1HtneNYK5mTJauhlXxnK+j9ZjymqltboiUuTBBOQ7aQZiZ39hRtvlMHqpekb612hNoBADMZFjMYiF0yjQEGfMjlrViz2gumRcmW1DEQM0bZZBUeuvSRWAt4jEqfDbuARAGRxoNto96S3L5Mm1czdcjE+cGJFL40yXnvuKPQ7nH0BCu6TmEyXDakTAAM6TvBIiOlQ3OLXSg7tMz5CYIyhjlEEEnxLnJAXcxOoFYPG2risM1tycqkgq51KAmZEkyYPpVcYt00IcAGQDOkdQRBG3tT+JUHzrzFG6TjF8IDdti3roCwAIIC+IxCxl+KduU1J+WFhQdHMBQpCz4SZKbwJ0AHM+p89s4y7JCFjOugM+sD5610PynfMMEcbSQkbE/S35+VJ4ylnjVOKNTxC6CwDC5kGR+8O5AGaDmnLJYnYnQHUnUcMuGBYICLh7xbjZlBi45CkDULAgERPxDmIx+W/cZVKXNSBJDsRmIEgnbcbVP2mvZrxCoVIZzoDILXGY+m40o2vqwjnUXcYo0OFs4e5CPh1y5p73RS2g2K6EkKZRYguTyFP3+Hw7Pcs6swA8DDu58QKrzDAtbb5GecYeziHQypYR/eD5Tyq5huJOTpbRmj9UhgDoFA86va/ZS1SXUVZqThsM11Wm2xJOYONFhGMgT4lLToc2sakAE2FtWLFpilkMWOUwrPmUkEwRuphfDoPCdwxAy97i+IgmCvMkWwunmYnY1Lwnir3LgUsSBbvNrzK2XZSYGpkDWlUg+pSf7UdBuGYec7K4UkZhqFUkDRSNllp5mAPM1csHB29EZ/hY+EEEOxhM7Ms5BOxYjTWTWZx3EmFx8tx4DkAZjoAIkE/ZTflV/EAQ4kmSisY56sC0R1p7ZeRfURXUUmae9ew95UN7U5ZBzZGBCjMP47NCsSdyQABlMw4bglthbbOSpY5l2JB1XxRB+H4lBmdhFZ9ONEb20J0gkREagjzmD8hQ4jjl1mBW44jozRp/FBiPKj7l0S80JO5RTNU3AsPle47KPCMqjPKh2gGGPhYKCwmZ085jsYDDogAU94mudzaMvMkeGZXQiD5cxrwOJ3/BYcki4bMs2uY5rt7nzlMvy0qvc47egAXWygDwgKBpygCCJ60NS9lLPjXOxGpw5sLetFUypaupdttvsVLSRo0C1MQJ7xjtEX7+OW+uItZnIvhQJBZB3ThvzewGbTSZE7aQMbhuOXRM5N5zG2sz6gTOpqReN3XOtxp6AnqCSANBtvB3pNSBaiHW00N/g2HIUHMMqZZDWwWYtOoHhWNfXNuYiocHwhbakhszlHglQQCFifEvhnxRpOorj2WzM4IZpQalWMkOp2+XOeelVfx2/a0L3FHKS0fKdKf3V2Q80LvYjXcJ4ni7AtJYNs92HcatpqxcMrPlOjFZCjlz1rj8XvX77M7oZIUCFOgVSACPMydfOqFni9znD6cwDG45aHeh/K1wGUYq0DRRGw2MchTTkvBnOUZLyazH4Kzeui9nuqkYdMvcXpZ1sW86q7CAxuB1Gh22IiuzZ4JYbCm9YtYu1ea4qNYu5XPdZwxcAW0B9J2B0rL3eKjNbAxRvNK+M27ym2y3rbyc7SygBtoiPOtQl/MJOOskfynn5g3axnkkkQqK2J4Mz4VLYQWn/ABjMxJYjL3LeKDquoRY119qbhvHThsKttRL2+8ZpU83LwPeK6FnBWW171XPVWj9p+2pvycmusyD9JtRGs9RBrB6hdMtJHn97jwvuIVsxzSIGq5GJIgnXar+C4MdSVO5gF00AMDYmQY+utcnAsMpB7i3PKF19dqu2sBYAjuUHL9zX2krUz1Sqo2Cu7MtbGLsg9z36gn4ELou24W3lE7A+gpq2S2bSaKmUdB4R8gNKaoWpmjTfL/Uv8GQV2mczepZifeZohcYa5m95+2lSr0Hjj6OVSY/404HxN5SZjQiIOnPmOQp1x10bXGHpl+6lSoeKHpDUmP8AlG9+tcDoMv2kT9dCOIXv19z/AMv9qU9Kj4oekPcxmxlwj91f1i1J05+CKIY+9+uue1j+qpUqPjh6QWxxjLw/h7vtYH/xUX47e/X3fax/VUqVS4R9IdsMY68f4e5/Nw5+21RDG3v193+bhv22aVKl8cPSDcxxjLx/5Rd+a4X+pqVcdc1/OuZH6OH67/uPQxSpUfHD0hKTBa/d/X3vbC6T0/MUK3Hme9uTt8OF/qNqVKq+OPoNzI8h/Tb/AEeC/wDz0ja/jvy1yYTTUbf8XpUqe1egtk5xT87t0+ow39TQrdI1zN6hcOD7raFKlSUI+hbmIXNtTp5Wv6ukAGM9f4tr7ckmlSp7I+h7mHZUKfB4eUhbQPuE2okuEa5m/wDCPlotKlS2p+BJsF7hP0n9JEeQ1GoHnNCxP6T/AM4fdSpU/jj6DcyC9hlb4hPrl+3LPKkq5RALR0zbR8vOlSo2oLBKjz/nP+w0maeb/wClvj7HpUqaivRNsq3bCN8Slv5Vy+39JzREx+lpsO9vaenj0pUqVIdsVy7mJJ1Pqfs2A8qCBIMLPmAftpUqKQ7YAtL+in8xT+ylSpUwP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9228282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2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9928931"/>
              </p:ext>
            </p:extLst>
          </p:nvPr>
        </p:nvGraphicFramePr>
        <p:xfrm>
          <a:off x="495627" y="2011619"/>
          <a:ext cx="8208912" cy="4405862"/>
        </p:xfrm>
        <a:graphic>
          <a:graphicData uri="http://schemas.openxmlformats.org/drawingml/2006/table">
            <a:tbl>
              <a:tblPr firstRow="1" firstCol="1" bandRow="1"/>
              <a:tblGrid>
                <a:gridCol w="9800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8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525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R" sz="14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Niveles</a:t>
                      </a:r>
                      <a:endParaRPr lang="es-CR" sz="14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3995" marR="5399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R" sz="16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Criterios</a:t>
                      </a:r>
                      <a:endParaRPr lang="es-CR" sz="16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3995" marR="5399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350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R" sz="14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Excelente</a:t>
                      </a:r>
                      <a:endParaRPr lang="es-CR" sz="14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3995" marR="5399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R" sz="12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Proporciona siempre ideas útiles cuando participa en el trabajo en equipo.  Escucha atentamente las exposiciones, comentarios y opiniones de sus compañeros, aportando sugerencias y valoraciones interesantes. Es un participante activo, proporciona trabajo de alta calidad, sabe distribuir las tareas y compartir las decisiones, logra implicarse por igual en el trabajo. Planifica muy bien el tiempo y cumple con los plazos establecidos.</a:t>
                      </a:r>
                    </a:p>
                  </a:txBody>
                  <a:tcPr marL="53995" marR="5399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79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R" sz="14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Muy bueno</a:t>
                      </a:r>
                      <a:endParaRPr lang="es-CR" sz="14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3995" marR="5399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R" sz="12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Proporciona ideas útiles cuando participa en el trabajo en equipo. Escucha atentamente las exposiciones, comentarios y opiniones de sus compañeros.  Es un participante activo proporciona trabajo de calidad, tiene alguna dificultad al distribuir las tareas y compartir las decisiones, logra implicarse en el trabajo. Planifica bien el tiempo y cumple con los plazos establecidos.</a:t>
                      </a:r>
                    </a:p>
                  </a:txBody>
                  <a:tcPr marL="53995" marR="5399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350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R" sz="14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Bueno</a:t>
                      </a:r>
                      <a:endParaRPr lang="es-CR" sz="14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3995" marR="5399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R" sz="12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Proporciona algunas veces ideas útiles cuando participa en el trabajo en equipo. Escucha las exposiciones, comentarios y opiniones de sus compañeros.  Participa proporcionando el trabajo que le demandan sus compañeros, tiene dificultad al distribuir las tareas, tomar decisiones y al implicarse en el trabajo. Planifica de forma aproximada el tiempo y al final cumple con los plazos establecidos.</a:t>
                      </a:r>
                    </a:p>
                  </a:txBody>
                  <a:tcPr marL="53995" marR="5399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2467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R" sz="14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En</a:t>
                      </a:r>
                      <a:r>
                        <a:rPr lang="es-CR" sz="1400" b="1" baseline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 proceso</a:t>
                      </a:r>
                      <a:endParaRPr lang="es-CR" sz="14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3995" marR="5399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R" sz="12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Proporciona ideas útiles de forma esporádica cuando participa en el trabajo en equipo. No presta atención a las exposiciones, comentarios y opiniones de sus compañeros.  Proporciona trabajo que por lo general necesita ser comprobado o corregido por otros, para asegurar su calidad.  Distribuye las tareas de forma desigual y no toma decisiones en forma conjunta, logra implicarse con mucha dificultad en el trabajo programado.  No logra planificar de forma adecuada el tiempo e incumple con los plazos establecidos.</a:t>
                      </a:r>
                    </a:p>
                  </a:txBody>
                  <a:tcPr marL="53995" marR="5399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6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539552" y="635496"/>
            <a:ext cx="8136904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R" sz="14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ea typeface="Calibri" pitchFamily="34" charset="0"/>
                <a:cs typeface="Times New Roman" pitchFamily="18" charset="0"/>
              </a:rPr>
              <a:t>RÚBRICA HOLÍSTICA PARA EVALUAR EL TRABAJO EN EQUIPO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R" sz="1400" b="0" i="0" u="none" strike="noStrike" cap="none" normalizeH="0" baseline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R" sz="12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Centro Educativo: _________________________________________________________________</a:t>
            </a:r>
            <a:endParaRPr kumimoji="0" lang="es-CR" sz="1200" b="0" i="0" u="none" strike="noStrike" cap="none" normalizeH="0" baseline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R" sz="12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Nombre del estudiante: ____________________________________________________________</a:t>
            </a:r>
            <a:endParaRPr kumimoji="0" lang="es-CR" sz="1200" b="0" i="0" u="none" strike="noStrike" cap="none" normalizeH="0" baseline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R" sz="12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Fecha:__________________________________________________ Sección: _________________</a:t>
            </a:r>
            <a:endParaRPr kumimoji="0" lang="es-CR" sz="1200" b="0" i="0" u="none" strike="noStrike" cap="none" normalizeH="0" baseline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R" sz="12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Objetivo procedimental: ________________________________________________________________________</a:t>
            </a:r>
            <a:endParaRPr kumimoji="0" lang="es-CR" sz="1200" b="0" i="0" u="none" strike="noStrike" cap="none" normalizeH="0" baseline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322113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5126</TotalTime>
  <Words>1136</Words>
  <Application>Microsoft Office PowerPoint</Application>
  <PresentationFormat>Presentación en pantalla (4:3)</PresentationFormat>
  <Paragraphs>162</Paragraphs>
  <Slides>21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11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33" baseType="lpstr">
      <vt:lpstr>Aharoni</vt:lpstr>
      <vt:lpstr>Albertus Medium</vt:lpstr>
      <vt:lpstr>Antique Olive</vt:lpstr>
      <vt:lpstr>Arial</vt:lpstr>
      <vt:lpstr>Arial Rounded MT Bold</vt:lpstr>
      <vt:lpstr>Calibri</vt:lpstr>
      <vt:lpstr>Century Gothic</vt:lpstr>
      <vt:lpstr>Tahoma</vt:lpstr>
      <vt:lpstr>Times New Roman</vt:lpstr>
      <vt:lpstr>Wingdings</vt:lpstr>
      <vt:lpstr>Wingdings 2</vt:lpstr>
      <vt:lpstr>Austin</vt:lpstr>
      <vt:lpstr>Presentación de PowerPoint</vt:lpstr>
      <vt:lpstr>INSTRUMENTOS PARA LA EVALUACIÓN DE LOS APRENDIZAJES</vt:lpstr>
      <vt:lpstr>  Tipos de instrumentos</vt:lpstr>
      <vt:lpstr>ESCALAS DE CALIFICACIÓN</vt:lpstr>
      <vt:lpstr>TIPOS DE ESCALAS DE CALIFICACIÓN</vt:lpstr>
      <vt:lpstr>Ejemplo:  Para autoevaluación (en primera persona)  1)  ¿ Realizo aportes en las  discusiones?            2)   ¿ Relaciono los comentarios con el tema que se  discute? 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¿QUÉ ES UNA RÚBRICA? </vt:lpstr>
      <vt:lpstr>Presentación de PowerPoint</vt:lpstr>
      <vt:lpstr>Presentación de PowerPoint</vt:lpstr>
      <vt:lpstr>Presentación de PowerPoint</vt:lpstr>
      <vt:lpstr>Ejemplo de rúbrica analítica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Técnicas de Evaluación de los Aprendizajes</dc:title>
  <dc:creator>Olga Leiton Cespedes</dc:creator>
  <cp:lastModifiedBy>Alejandro Jiménez</cp:lastModifiedBy>
  <cp:revision>238</cp:revision>
  <cp:lastPrinted>2018-04-23T19:53:02Z</cp:lastPrinted>
  <dcterms:created xsi:type="dcterms:W3CDTF">2012-03-05T17:05:03Z</dcterms:created>
  <dcterms:modified xsi:type="dcterms:W3CDTF">2025-11-11T02:58:31Z</dcterms:modified>
</cp:coreProperties>
</file>