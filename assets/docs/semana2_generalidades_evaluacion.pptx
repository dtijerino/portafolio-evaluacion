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0"/>
  </p:notesMasterIdLst>
  <p:handoutMasterIdLst>
    <p:handoutMasterId r:id="rId11"/>
  </p:handoutMasterIdLst>
  <p:sldIdLst>
    <p:sldId id="267" r:id="rId2"/>
    <p:sldId id="256" r:id="rId3"/>
    <p:sldId id="257" r:id="rId4"/>
    <p:sldId id="258" r:id="rId5"/>
    <p:sldId id="260" r:id="rId6"/>
    <p:sldId id="264" r:id="rId7"/>
    <p:sldId id="265" r:id="rId8"/>
    <p:sldId id="266" r:id="rId9"/>
  </p:sldIdLst>
  <p:sldSz cx="12192000" cy="6858000"/>
  <p:notesSz cx="7010400" cy="92964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CCFFFF"/>
    <a:srgbClr val="FF6600"/>
    <a:srgbClr val="CCFFCC"/>
    <a:srgbClr val="FFE0C1"/>
    <a:srgbClr val="FEDFDA"/>
    <a:srgbClr val="FFCCFF"/>
    <a:srgbClr val="9900CC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41E27-170A-41A3-B64C-8C982C07EF2E}" type="doc">
      <dgm:prSet loTypeId="urn:microsoft.com/office/officeart/2005/8/layout/cycle5" loCatId="cycle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s-CR"/>
        </a:p>
      </dgm:t>
    </dgm:pt>
    <dgm:pt modelId="{ED5E8583-B252-45DF-AF0E-CFACB1F42FCC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Trabajo Cotidiano</a:t>
          </a:r>
        </a:p>
      </dgm:t>
    </dgm:pt>
    <dgm:pt modelId="{4547E139-C282-493A-8103-5C3BF59A143F}" type="parTrans" cxnId="{3311EA63-0A90-4857-946B-F49D77DE05E1}">
      <dgm:prSet/>
      <dgm:spPr/>
      <dgm:t>
        <a:bodyPr/>
        <a:lstStyle/>
        <a:p>
          <a:endParaRPr lang="es-CR"/>
        </a:p>
      </dgm:t>
    </dgm:pt>
    <dgm:pt modelId="{CE6D3C1F-ECDC-4325-8AEA-DDC200F47AC0}" type="sibTrans" cxnId="{3311EA63-0A90-4857-946B-F49D77DE05E1}">
      <dgm:prSet/>
      <dgm:spPr>
        <a:ln w="38100">
          <a:solidFill>
            <a:srgbClr val="C00000"/>
          </a:solidFill>
        </a:ln>
      </dgm:spPr>
      <dgm:t>
        <a:bodyPr/>
        <a:lstStyle/>
        <a:p>
          <a:endParaRPr lang="es-CR"/>
        </a:p>
      </dgm:t>
    </dgm:pt>
    <dgm:pt modelId="{FA6210E3-06B8-4F4F-80FC-CA64C6B3E288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Tareas</a:t>
          </a:r>
        </a:p>
      </dgm:t>
    </dgm:pt>
    <dgm:pt modelId="{63666C0E-9950-4A24-A473-4CA777D5CF4E}" type="parTrans" cxnId="{46B07F85-6615-4AF8-8DB4-A6F51C3B162B}">
      <dgm:prSet/>
      <dgm:spPr/>
      <dgm:t>
        <a:bodyPr/>
        <a:lstStyle/>
        <a:p>
          <a:endParaRPr lang="es-CR"/>
        </a:p>
      </dgm:t>
    </dgm:pt>
    <dgm:pt modelId="{635B9A59-D0D5-42C6-B4AB-6D696FBA4D37}" type="sibTrans" cxnId="{46B07F85-6615-4AF8-8DB4-A6F51C3B162B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  <a:ln w="38100">
          <a:solidFill>
            <a:srgbClr val="92D050"/>
          </a:solidFill>
        </a:ln>
      </dgm:spPr>
      <dgm:t>
        <a:bodyPr/>
        <a:lstStyle/>
        <a:p>
          <a:endParaRPr lang="es-CR"/>
        </a:p>
      </dgm:t>
    </dgm:pt>
    <dgm:pt modelId="{EC7A02ED-BFB5-4D8A-910C-501CA990E97E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Proyecto</a:t>
          </a:r>
        </a:p>
      </dgm:t>
    </dgm:pt>
    <dgm:pt modelId="{B37FC599-5FC2-4515-8042-71B66B903FD2}" type="parTrans" cxnId="{1E1AFAE2-1D7F-4594-B91B-650E9C96F9C3}">
      <dgm:prSet/>
      <dgm:spPr/>
      <dgm:t>
        <a:bodyPr/>
        <a:lstStyle/>
        <a:p>
          <a:endParaRPr lang="es-CR"/>
        </a:p>
      </dgm:t>
    </dgm:pt>
    <dgm:pt modelId="{0BE7F03B-AC5E-4EB2-A2DE-2DDF9916950F}" type="sibTrans" cxnId="{1E1AFAE2-1D7F-4594-B91B-650E9C96F9C3}">
      <dgm:prSet/>
      <dgm:spPr>
        <a:ln w="38100">
          <a:solidFill>
            <a:srgbClr val="7030A0"/>
          </a:solidFill>
        </a:ln>
      </dgm:spPr>
      <dgm:t>
        <a:bodyPr/>
        <a:lstStyle/>
        <a:p>
          <a:endParaRPr lang="es-CR"/>
        </a:p>
      </dgm:t>
    </dgm:pt>
    <dgm:pt modelId="{38F80EFC-2C57-4EA1-8168-26E71E04844B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Demostración de lo aprendido</a:t>
          </a:r>
        </a:p>
      </dgm:t>
    </dgm:pt>
    <dgm:pt modelId="{19585C91-3B79-4E53-8A7D-323109027004}" type="parTrans" cxnId="{2282536B-1114-4F3D-8F96-09758427AFB9}">
      <dgm:prSet/>
      <dgm:spPr/>
      <dgm:t>
        <a:bodyPr/>
        <a:lstStyle/>
        <a:p>
          <a:endParaRPr lang="es-CR"/>
        </a:p>
      </dgm:t>
    </dgm:pt>
    <dgm:pt modelId="{8B05F9A7-FE26-4FFA-9D84-3A3B29DC3A3D}" type="sibTrans" cxnId="{2282536B-1114-4F3D-8F96-09758427AFB9}">
      <dgm:prSet/>
      <dgm:spPr>
        <a:blipFill rotWithShape="0">
          <a:blip xmlns:r="http://schemas.openxmlformats.org/officeDocument/2006/relationships" r:embed="rId2"/>
          <a:stretch>
            <a:fillRect/>
          </a:stretch>
        </a:blipFill>
        <a:ln w="38100">
          <a:solidFill>
            <a:srgbClr val="08A3C2"/>
          </a:solidFill>
        </a:ln>
      </dgm:spPr>
      <dgm:t>
        <a:bodyPr/>
        <a:lstStyle/>
        <a:p>
          <a:endParaRPr lang="es-CR"/>
        </a:p>
      </dgm:t>
    </dgm:pt>
    <dgm:pt modelId="{652EDC9B-47FA-4A68-9E7E-5799656FFF43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Pruebas</a:t>
          </a:r>
        </a:p>
      </dgm:t>
    </dgm:pt>
    <dgm:pt modelId="{51627329-51F5-4833-91EC-F4A65471F97E}" type="parTrans" cxnId="{DAB2F084-39C9-430C-A0B5-A075E3AD0BB3}">
      <dgm:prSet/>
      <dgm:spPr/>
      <dgm:t>
        <a:bodyPr/>
        <a:lstStyle/>
        <a:p>
          <a:endParaRPr lang="es-CR"/>
        </a:p>
      </dgm:t>
    </dgm:pt>
    <dgm:pt modelId="{689166F2-2E57-4761-9AC6-C97A35ABC89C}" type="sibTrans" cxnId="{DAB2F084-39C9-430C-A0B5-A075E3AD0BB3}">
      <dgm:prSet/>
      <dgm:spPr>
        <a:blipFill rotWithShape="0">
          <a:blip xmlns:r="http://schemas.openxmlformats.org/officeDocument/2006/relationships" r:embed="rId3"/>
          <a:stretch>
            <a:fillRect/>
          </a:stretch>
        </a:blipFill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endParaRPr lang="es-CR"/>
        </a:p>
      </dgm:t>
    </dgm:pt>
    <dgm:pt modelId="{C255AA86-48E7-4F10-982D-4297199B513D}">
      <dgm:prSet phldrT="[Texto]"/>
      <dgm:spPr/>
      <dgm:t>
        <a:bodyPr/>
        <a:lstStyle/>
        <a:p>
          <a:r>
            <a:rPr lang="es-CR" dirty="0">
              <a:solidFill>
                <a:schemeClr val="tx1"/>
              </a:solidFill>
            </a:rPr>
            <a:t>Asistencia</a:t>
          </a:r>
        </a:p>
      </dgm:t>
    </dgm:pt>
    <dgm:pt modelId="{5CEA46AE-0621-4996-A298-334196C6ADAC}" type="parTrans" cxnId="{42231F3D-9AE7-4D42-9D39-629401623A3E}">
      <dgm:prSet/>
      <dgm:spPr/>
      <dgm:t>
        <a:bodyPr/>
        <a:lstStyle/>
        <a:p>
          <a:endParaRPr lang="es-ES"/>
        </a:p>
      </dgm:t>
    </dgm:pt>
    <dgm:pt modelId="{5D6FC494-9AE7-4292-9293-F3F0CD32505E}" type="sibTrans" cxnId="{42231F3D-9AE7-4D42-9D39-629401623A3E}">
      <dgm:prSet/>
      <dgm:spPr/>
      <dgm:t>
        <a:bodyPr/>
        <a:lstStyle/>
        <a:p>
          <a:endParaRPr lang="es-ES"/>
        </a:p>
      </dgm:t>
    </dgm:pt>
    <dgm:pt modelId="{D27B6571-9FA7-4C5F-BBE2-5489864651E4}" type="pres">
      <dgm:prSet presAssocID="{CE041E27-170A-41A3-B64C-8C982C07EF2E}" presName="cycle" presStyleCnt="0">
        <dgm:presLayoutVars>
          <dgm:dir/>
          <dgm:resizeHandles val="exact"/>
        </dgm:presLayoutVars>
      </dgm:prSet>
      <dgm:spPr/>
    </dgm:pt>
    <dgm:pt modelId="{4DF33234-2162-4031-B774-0050074E89D1}" type="pres">
      <dgm:prSet presAssocID="{ED5E8583-B252-45DF-AF0E-CFACB1F42FCC}" presName="node" presStyleLbl="node1" presStyleIdx="0" presStyleCnt="6">
        <dgm:presLayoutVars>
          <dgm:bulletEnabled val="1"/>
        </dgm:presLayoutVars>
      </dgm:prSet>
      <dgm:spPr/>
    </dgm:pt>
    <dgm:pt modelId="{54DA4ED2-3AE7-4B54-869A-AC1068DB03D1}" type="pres">
      <dgm:prSet presAssocID="{ED5E8583-B252-45DF-AF0E-CFACB1F42FCC}" presName="spNode" presStyleCnt="0"/>
      <dgm:spPr/>
    </dgm:pt>
    <dgm:pt modelId="{D71FEB9C-68F7-4059-B61A-26513BBBCCD4}" type="pres">
      <dgm:prSet presAssocID="{CE6D3C1F-ECDC-4325-8AEA-DDC200F47AC0}" presName="sibTrans" presStyleLbl="sibTrans1D1" presStyleIdx="0" presStyleCnt="6"/>
      <dgm:spPr/>
    </dgm:pt>
    <dgm:pt modelId="{48FACCA1-568B-43BF-88FF-F2CC9829BD7B}" type="pres">
      <dgm:prSet presAssocID="{FA6210E3-06B8-4F4F-80FC-CA64C6B3E288}" presName="node" presStyleLbl="node1" presStyleIdx="1" presStyleCnt="6">
        <dgm:presLayoutVars>
          <dgm:bulletEnabled val="1"/>
        </dgm:presLayoutVars>
      </dgm:prSet>
      <dgm:spPr/>
    </dgm:pt>
    <dgm:pt modelId="{56DFDCF8-C34E-407D-8FAD-82CB9BA7DD46}" type="pres">
      <dgm:prSet presAssocID="{FA6210E3-06B8-4F4F-80FC-CA64C6B3E288}" presName="spNode" presStyleCnt="0"/>
      <dgm:spPr/>
    </dgm:pt>
    <dgm:pt modelId="{75AF85C2-203D-439F-9E89-C9401D17FDDB}" type="pres">
      <dgm:prSet presAssocID="{635B9A59-D0D5-42C6-B4AB-6D696FBA4D37}" presName="sibTrans" presStyleLbl="sibTrans1D1" presStyleIdx="1" presStyleCnt="6"/>
      <dgm:spPr/>
    </dgm:pt>
    <dgm:pt modelId="{E143B386-8812-43E2-B9E7-551AFEA93D1D}" type="pres">
      <dgm:prSet presAssocID="{EC7A02ED-BFB5-4D8A-910C-501CA990E97E}" presName="node" presStyleLbl="node1" presStyleIdx="2" presStyleCnt="6" custRadScaleRad="105162" custRadScaleInc="-14046">
        <dgm:presLayoutVars>
          <dgm:bulletEnabled val="1"/>
        </dgm:presLayoutVars>
      </dgm:prSet>
      <dgm:spPr/>
    </dgm:pt>
    <dgm:pt modelId="{F7AD1FEA-6C64-416A-B10D-9AE416F42B92}" type="pres">
      <dgm:prSet presAssocID="{EC7A02ED-BFB5-4D8A-910C-501CA990E97E}" presName="spNode" presStyleCnt="0"/>
      <dgm:spPr/>
    </dgm:pt>
    <dgm:pt modelId="{A2D9E8B2-EC75-468A-804C-11DF2E5BFECD}" type="pres">
      <dgm:prSet presAssocID="{0BE7F03B-AC5E-4EB2-A2DE-2DDF9916950F}" presName="sibTrans" presStyleLbl="sibTrans1D1" presStyleIdx="2" presStyleCnt="6"/>
      <dgm:spPr/>
    </dgm:pt>
    <dgm:pt modelId="{AB5F9D9F-1B24-4787-83AA-FFE21406DE7C}" type="pres">
      <dgm:prSet presAssocID="{38F80EFC-2C57-4EA1-8168-26E71E04844B}" presName="node" presStyleLbl="node1" presStyleIdx="3" presStyleCnt="6">
        <dgm:presLayoutVars>
          <dgm:bulletEnabled val="1"/>
        </dgm:presLayoutVars>
      </dgm:prSet>
      <dgm:spPr/>
    </dgm:pt>
    <dgm:pt modelId="{F8DF32C8-CA63-4B23-BA08-4B83576B9EA8}" type="pres">
      <dgm:prSet presAssocID="{38F80EFC-2C57-4EA1-8168-26E71E04844B}" presName="spNode" presStyleCnt="0"/>
      <dgm:spPr/>
    </dgm:pt>
    <dgm:pt modelId="{15F0646F-CB80-4337-85B8-4AA1F686E601}" type="pres">
      <dgm:prSet presAssocID="{8B05F9A7-FE26-4FFA-9D84-3A3B29DC3A3D}" presName="sibTrans" presStyleLbl="sibTrans1D1" presStyleIdx="3" presStyleCnt="6"/>
      <dgm:spPr/>
    </dgm:pt>
    <dgm:pt modelId="{0CF91B7D-4824-4E54-AB1B-E829743BD5FA}" type="pres">
      <dgm:prSet presAssocID="{652EDC9B-47FA-4A68-9E7E-5799656FFF43}" presName="node" presStyleLbl="node1" presStyleIdx="4" presStyleCnt="6">
        <dgm:presLayoutVars>
          <dgm:bulletEnabled val="1"/>
        </dgm:presLayoutVars>
      </dgm:prSet>
      <dgm:spPr/>
    </dgm:pt>
    <dgm:pt modelId="{18B04218-1CE8-4C50-A6AD-86ADD0C7DE8F}" type="pres">
      <dgm:prSet presAssocID="{652EDC9B-47FA-4A68-9E7E-5799656FFF43}" presName="spNode" presStyleCnt="0"/>
      <dgm:spPr/>
    </dgm:pt>
    <dgm:pt modelId="{6FD13128-9826-4F8C-A59F-11828071F5B5}" type="pres">
      <dgm:prSet presAssocID="{689166F2-2E57-4761-9AC6-C97A35ABC89C}" presName="sibTrans" presStyleLbl="sibTrans1D1" presStyleIdx="4" presStyleCnt="6"/>
      <dgm:spPr/>
    </dgm:pt>
    <dgm:pt modelId="{FB0CDC81-0915-4F9C-9534-991F5E986F16}" type="pres">
      <dgm:prSet presAssocID="{C255AA86-48E7-4F10-982D-4297199B513D}" presName="node" presStyleLbl="node1" presStyleIdx="5" presStyleCnt="6" custRadScaleRad="105162" custRadScaleInc="-14046">
        <dgm:presLayoutVars>
          <dgm:bulletEnabled val="1"/>
        </dgm:presLayoutVars>
      </dgm:prSet>
      <dgm:spPr/>
    </dgm:pt>
    <dgm:pt modelId="{856D4CCE-269C-4971-A5F6-8E49EE932432}" type="pres">
      <dgm:prSet presAssocID="{C255AA86-48E7-4F10-982D-4297199B513D}" presName="spNode" presStyleCnt="0"/>
      <dgm:spPr/>
    </dgm:pt>
    <dgm:pt modelId="{F8021E37-C9B3-41D4-B651-F6D7A1678580}" type="pres">
      <dgm:prSet presAssocID="{5D6FC494-9AE7-4292-9293-F3F0CD32505E}" presName="sibTrans" presStyleLbl="sibTrans1D1" presStyleIdx="5" presStyleCnt="6"/>
      <dgm:spPr/>
    </dgm:pt>
  </dgm:ptLst>
  <dgm:cxnLst>
    <dgm:cxn modelId="{716A050C-2442-4B27-A2ED-8F23DAD6BB82}" type="presOf" srcId="{8B05F9A7-FE26-4FFA-9D84-3A3B29DC3A3D}" destId="{15F0646F-CB80-4337-85B8-4AA1F686E601}" srcOrd="0" destOrd="0" presId="urn:microsoft.com/office/officeart/2005/8/layout/cycle5"/>
    <dgm:cxn modelId="{25836815-4120-45AE-AA62-7D715C8F782B}" type="presOf" srcId="{0BE7F03B-AC5E-4EB2-A2DE-2DDF9916950F}" destId="{A2D9E8B2-EC75-468A-804C-11DF2E5BFECD}" srcOrd="0" destOrd="0" presId="urn:microsoft.com/office/officeart/2005/8/layout/cycle5"/>
    <dgm:cxn modelId="{09237E25-72C6-46AA-A266-6D1F6565C6C7}" type="presOf" srcId="{EC7A02ED-BFB5-4D8A-910C-501CA990E97E}" destId="{E143B386-8812-43E2-B9E7-551AFEA93D1D}" srcOrd="0" destOrd="0" presId="urn:microsoft.com/office/officeart/2005/8/layout/cycle5"/>
    <dgm:cxn modelId="{32607334-B1BC-44B0-9A3B-A06E501B31BF}" type="presOf" srcId="{635B9A59-D0D5-42C6-B4AB-6D696FBA4D37}" destId="{75AF85C2-203D-439F-9E89-C9401D17FDDB}" srcOrd="0" destOrd="0" presId="urn:microsoft.com/office/officeart/2005/8/layout/cycle5"/>
    <dgm:cxn modelId="{42231F3D-9AE7-4D42-9D39-629401623A3E}" srcId="{CE041E27-170A-41A3-B64C-8C982C07EF2E}" destId="{C255AA86-48E7-4F10-982D-4297199B513D}" srcOrd="5" destOrd="0" parTransId="{5CEA46AE-0621-4996-A298-334196C6ADAC}" sibTransId="{5D6FC494-9AE7-4292-9293-F3F0CD32505E}"/>
    <dgm:cxn modelId="{7E28973D-0F40-4525-BCE0-AD6BF5455D6C}" type="presOf" srcId="{689166F2-2E57-4761-9AC6-C97A35ABC89C}" destId="{6FD13128-9826-4F8C-A59F-11828071F5B5}" srcOrd="0" destOrd="0" presId="urn:microsoft.com/office/officeart/2005/8/layout/cycle5"/>
    <dgm:cxn modelId="{3311EA63-0A90-4857-946B-F49D77DE05E1}" srcId="{CE041E27-170A-41A3-B64C-8C982C07EF2E}" destId="{ED5E8583-B252-45DF-AF0E-CFACB1F42FCC}" srcOrd="0" destOrd="0" parTransId="{4547E139-C282-493A-8103-5C3BF59A143F}" sibTransId="{CE6D3C1F-ECDC-4325-8AEA-DDC200F47AC0}"/>
    <dgm:cxn modelId="{2282536B-1114-4F3D-8F96-09758427AFB9}" srcId="{CE041E27-170A-41A3-B64C-8C982C07EF2E}" destId="{38F80EFC-2C57-4EA1-8168-26E71E04844B}" srcOrd="3" destOrd="0" parTransId="{19585C91-3B79-4E53-8A7D-323109027004}" sibTransId="{8B05F9A7-FE26-4FFA-9D84-3A3B29DC3A3D}"/>
    <dgm:cxn modelId="{C30A8A6D-C3B3-4CCB-8180-649DE1344A4A}" type="presOf" srcId="{FA6210E3-06B8-4F4F-80FC-CA64C6B3E288}" destId="{48FACCA1-568B-43BF-88FF-F2CC9829BD7B}" srcOrd="0" destOrd="0" presId="urn:microsoft.com/office/officeart/2005/8/layout/cycle5"/>
    <dgm:cxn modelId="{DAB2F084-39C9-430C-A0B5-A075E3AD0BB3}" srcId="{CE041E27-170A-41A3-B64C-8C982C07EF2E}" destId="{652EDC9B-47FA-4A68-9E7E-5799656FFF43}" srcOrd="4" destOrd="0" parTransId="{51627329-51F5-4833-91EC-F4A65471F97E}" sibTransId="{689166F2-2E57-4761-9AC6-C97A35ABC89C}"/>
    <dgm:cxn modelId="{46B07F85-6615-4AF8-8DB4-A6F51C3B162B}" srcId="{CE041E27-170A-41A3-B64C-8C982C07EF2E}" destId="{FA6210E3-06B8-4F4F-80FC-CA64C6B3E288}" srcOrd="1" destOrd="0" parTransId="{63666C0E-9950-4A24-A473-4CA777D5CF4E}" sibTransId="{635B9A59-D0D5-42C6-B4AB-6D696FBA4D37}"/>
    <dgm:cxn modelId="{79D65EA3-20F0-4D55-AEEE-17D02CC6129B}" type="presOf" srcId="{C255AA86-48E7-4F10-982D-4297199B513D}" destId="{FB0CDC81-0915-4F9C-9534-991F5E986F16}" srcOrd="0" destOrd="0" presId="urn:microsoft.com/office/officeart/2005/8/layout/cycle5"/>
    <dgm:cxn modelId="{DBB3A7B6-A901-4C51-9C74-AFFF22C0118C}" type="presOf" srcId="{ED5E8583-B252-45DF-AF0E-CFACB1F42FCC}" destId="{4DF33234-2162-4031-B774-0050074E89D1}" srcOrd="0" destOrd="0" presId="urn:microsoft.com/office/officeart/2005/8/layout/cycle5"/>
    <dgm:cxn modelId="{E1791FD2-6719-4BD1-9D28-AC238E1CCA84}" type="presOf" srcId="{5D6FC494-9AE7-4292-9293-F3F0CD32505E}" destId="{F8021E37-C9B3-41D4-B651-F6D7A1678580}" srcOrd="0" destOrd="0" presId="urn:microsoft.com/office/officeart/2005/8/layout/cycle5"/>
    <dgm:cxn modelId="{8A6B1CDB-266E-4E0B-B8A5-2C3CE01FC4CE}" type="presOf" srcId="{652EDC9B-47FA-4A68-9E7E-5799656FFF43}" destId="{0CF91B7D-4824-4E54-AB1B-E829743BD5FA}" srcOrd="0" destOrd="0" presId="urn:microsoft.com/office/officeart/2005/8/layout/cycle5"/>
    <dgm:cxn modelId="{B9EE84DE-867E-48A2-BB82-CCB3980E1969}" type="presOf" srcId="{38F80EFC-2C57-4EA1-8168-26E71E04844B}" destId="{AB5F9D9F-1B24-4787-83AA-FFE21406DE7C}" srcOrd="0" destOrd="0" presId="urn:microsoft.com/office/officeart/2005/8/layout/cycle5"/>
    <dgm:cxn modelId="{6B1FDEE1-7D04-4324-B378-373B8ED29E2F}" type="presOf" srcId="{CE041E27-170A-41A3-B64C-8C982C07EF2E}" destId="{D27B6571-9FA7-4C5F-BBE2-5489864651E4}" srcOrd="0" destOrd="0" presId="urn:microsoft.com/office/officeart/2005/8/layout/cycle5"/>
    <dgm:cxn modelId="{1E1AFAE2-1D7F-4594-B91B-650E9C96F9C3}" srcId="{CE041E27-170A-41A3-B64C-8C982C07EF2E}" destId="{EC7A02ED-BFB5-4D8A-910C-501CA990E97E}" srcOrd="2" destOrd="0" parTransId="{B37FC599-5FC2-4515-8042-71B66B903FD2}" sibTransId="{0BE7F03B-AC5E-4EB2-A2DE-2DDF9916950F}"/>
    <dgm:cxn modelId="{22B74BE7-C992-47F5-B328-6F3A1BFE47B2}" type="presOf" srcId="{CE6D3C1F-ECDC-4325-8AEA-DDC200F47AC0}" destId="{D71FEB9C-68F7-4059-B61A-26513BBBCCD4}" srcOrd="0" destOrd="0" presId="urn:microsoft.com/office/officeart/2005/8/layout/cycle5"/>
    <dgm:cxn modelId="{8DC81506-BD60-4227-B9C1-6D2FD0D4E50E}" type="presParOf" srcId="{D27B6571-9FA7-4C5F-BBE2-5489864651E4}" destId="{4DF33234-2162-4031-B774-0050074E89D1}" srcOrd="0" destOrd="0" presId="urn:microsoft.com/office/officeart/2005/8/layout/cycle5"/>
    <dgm:cxn modelId="{C150C45D-A227-404F-B4DA-EE72A4FBC595}" type="presParOf" srcId="{D27B6571-9FA7-4C5F-BBE2-5489864651E4}" destId="{54DA4ED2-3AE7-4B54-869A-AC1068DB03D1}" srcOrd="1" destOrd="0" presId="urn:microsoft.com/office/officeart/2005/8/layout/cycle5"/>
    <dgm:cxn modelId="{6797BC0E-DF28-4EE0-8CD8-133C74C93139}" type="presParOf" srcId="{D27B6571-9FA7-4C5F-BBE2-5489864651E4}" destId="{D71FEB9C-68F7-4059-B61A-26513BBBCCD4}" srcOrd="2" destOrd="0" presId="urn:microsoft.com/office/officeart/2005/8/layout/cycle5"/>
    <dgm:cxn modelId="{A595C1DE-8FB5-4BDF-B722-5FF36CCFB1DC}" type="presParOf" srcId="{D27B6571-9FA7-4C5F-BBE2-5489864651E4}" destId="{48FACCA1-568B-43BF-88FF-F2CC9829BD7B}" srcOrd="3" destOrd="0" presId="urn:microsoft.com/office/officeart/2005/8/layout/cycle5"/>
    <dgm:cxn modelId="{B121F0E5-0393-4061-B322-D6AF4D968315}" type="presParOf" srcId="{D27B6571-9FA7-4C5F-BBE2-5489864651E4}" destId="{56DFDCF8-C34E-407D-8FAD-82CB9BA7DD46}" srcOrd="4" destOrd="0" presId="urn:microsoft.com/office/officeart/2005/8/layout/cycle5"/>
    <dgm:cxn modelId="{FAC9175E-5BC9-48A7-B34F-36E717F7EAC7}" type="presParOf" srcId="{D27B6571-9FA7-4C5F-BBE2-5489864651E4}" destId="{75AF85C2-203D-439F-9E89-C9401D17FDDB}" srcOrd="5" destOrd="0" presId="urn:microsoft.com/office/officeart/2005/8/layout/cycle5"/>
    <dgm:cxn modelId="{C2FE06C5-0B5C-4637-AADB-CF7B6D1ECFA5}" type="presParOf" srcId="{D27B6571-9FA7-4C5F-BBE2-5489864651E4}" destId="{E143B386-8812-43E2-B9E7-551AFEA93D1D}" srcOrd="6" destOrd="0" presId="urn:microsoft.com/office/officeart/2005/8/layout/cycle5"/>
    <dgm:cxn modelId="{31059984-B9FF-420F-B298-3633A5149F6A}" type="presParOf" srcId="{D27B6571-9FA7-4C5F-BBE2-5489864651E4}" destId="{F7AD1FEA-6C64-416A-B10D-9AE416F42B92}" srcOrd="7" destOrd="0" presId="urn:microsoft.com/office/officeart/2005/8/layout/cycle5"/>
    <dgm:cxn modelId="{EB3DE96B-A089-452D-A11C-DD39A2DFF91C}" type="presParOf" srcId="{D27B6571-9FA7-4C5F-BBE2-5489864651E4}" destId="{A2D9E8B2-EC75-468A-804C-11DF2E5BFECD}" srcOrd="8" destOrd="0" presId="urn:microsoft.com/office/officeart/2005/8/layout/cycle5"/>
    <dgm:cxn modelId="{626DFE56-A785-43C2-9877-8DA4D0399031}" type="presParOf" srcId="{D27B6571-9FA7-4C5F-BBE2-5489864651E4}" destId="{AB5F9D9F-1B24-4787-83AA-FFE21406DE7C}" srcOrd="9" destOrd="0" presId="urn:microsoft.com/office/officeart/2005/8/layout/cycle5"/>
    <dgm:cxn modelId="{BCC711A9-4AF4-4CE6-B28E-D6E634C6DB63}" type="presParOf" srcId="{D27B6571-9FA7-4C5F-BBE2-5489864651E4}" destId="{F8DF32C8-CA63-4B23-BA08-4B83576B9EA8}" srcOrd="10" destOrd="0" presId="urn:microsoft.com/office/officeart/2005/8/layout/cycle5"/>
    <dgm:cxn modelId="{B4EEABE1-5D1A-42D6-A9FA-3D014341C1D8}" type="presParOf" srcId="{D27B6571-9FA7-4C5F-BBE2-5489864651E4}" destId="{15F0646F-CB80-4337-85B8-4AA1F686E601}" srcOrd="11" destOrd="0" presId="urn:microsoft.com/office/officeart/2005/8/layout/cycle5"/>
    <dgm:cxn modelId="{2DD57518-65A5-455D-B198-135F29767D9E}" type="presParOf" srcId="{D27B6571-9FA7-4C5F-BBE2-5489864651E4}" destId="{0CF91B7D-4824-4E54-AB1B-E829743BD5FA}" srcOrd="12" destOrd="0" presId="urn:microsoft.com/office/officeart/2005/8/layout/cycle5"/>
    <dgm:cxn modelId="{A408835E-3A50-4DD7-AFA6-D1BA8203614E}" type="presParOf" srcId="{D27B6571-9FA7-4C5F-BBE2-5489864651E4}" destId="{18B04218-1CE8-4C50-A6AD-86ADD0C7DE8F}" srcOrd="13" destOrd="0" presId="urn:microsoft.com/office/officeart/2005/8/layout/cycle5"/>
    <dgm:cxn modelId="{186A4741-7E04-40F4-A304-48CF6CF1C746}" type="presParOf" srcId="{D27B6571-9FA7-4C5F-BBE2-5489864651E4}" destId="{6FD13128-9826-4F8C-A59F-11828071F5B5}" srcOrd="14" destOrd="0" presId="urn:microsoft.com/office/officeart/2005/8/layout/cycle5"/>
    <dgm:cxn modelId="{32B8EF53-71BD-4363-A24B-07524FD3EF57}" type="presParOf" srcId="{D27B6571-9FA7-4C5F-BBE2-5489864651E4}" destId="{FB0CDC81-0915-4F9C-9534-991F5E986F16}" srcOrd="15" destOrd="0" presId="urn:microsoft.com/office/officeart/2005/8/layout/cycle5"/>
    <dgm:cxn modelId="{8634309D-797F-441A-A6F0-43C51E7AAE6A}" type="presParOf" srcId="{D27B6571-9FA7-4C5F-BBE2-5489864651E4}" destId="{856D4CCE-269C-4971-A5F6-8E49EE932432}" srcOrd="16" destOrd="0" presId="urn:microsoft.com/office/officeart/2005/8/layout/cycle5"/>
    <dgm:cxn modelId="{3326EED1-1354-422F-99EA-262802A56A9A}" type="presParOf" srcId="{D27B6571-9FA7-4C5F-BBE2-5489864651E4}" destId="{F8021E37-C9B3-41D4-B651-F6D7A1678580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33234-2162-4031-B774-0050074E89D1}">
      <dsp:nvSpPr>
        <dsp:cNvPr id="0" name=""/>
        <dsp:cNvSpPr/>
      </dsp:nvSpPr>
      <dsp:spPr>
        <a:xfrm>
          <a:off x="1672785" y="89258"/>
          <a:ext cx="1259085" cy="8184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Trabajo Cotidiano</a:t>
          </a:r>
        </a:p>
      </dsp:txBody>
      <dsp:txXfrm>
        <a:off x="1712736" y="129209"/>
        <a:ext cx="1179183" cy="738503"/>
      </dsp:txXfrm>
    </dsp:sp>
    <dsp:sp modelId="{D71FEB9C-68F7-4059-B61A-26513BBBCCD4}">
      <dsp:nvSpPr>
        <dsp:cNvPr id="0" name=""/>
        <dsp:cNvSpPr/>
      </dsp:nvSpPr>
      <dsp:spPr>
        <a:xfrm>
          <a:off x="372087" y="498460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2718608" y="168337"/>
              </a:moveTo>
              <a:arcTo wR="1930240" hR="1930240" stAng="17646375" swAng="925504"/>
            </a:path>
          </a:pathLst>
        </a:custGeom>
        <a:noFill/>
        <a:ln w="38100" cap="rnd" cmpd="sng" algn="ctr">
          <a:solidFill>
            <a:srgbClr val="C0000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FACCA1-568B-43BF-88FF-F2CC9829BD7B}">
      <dsp:nvSpPr>
        <dsp:cNvPr id="0" name=""/>
        <dsp:cNvSpPr/>
      </dsp:nvSpPr>
      <dsp:spPr>
        <a:xfrm>
          <a:off x="3344422" y="1054378"/>
          <a:ext cx="1259085" cy="81840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Tareas</a:t>
          </a:r>
        </a:p>
      </dsp:txBody>
      <dsp:txXfrm>
        <a:off x="3384373" y="1094329"/>
        <a:ext cx="1179183" cy="738503"/>
      </dsp:txXfrm>
    </dsp:sp>
    <dsp:sp modelId="{75AF85C2-203D-439F-9E89-C9401D17FDDB}">
      <dsp:nvSpPr>
        <dsp:cNvPr id="0" name=""/>
        <dsp:cNvSpPr/>
      </dsp:nvSpPr>
      <dsp:spPr>
        <a:xfrm>
          <a:off x="362944" y="467101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3834610" y="1615276"/>
              </a:moveTo>
              <a:arcTo wR="1930240" hR="1930240" stAng="21036531" swAng="1173594"/>
            </a:path>
          </a:pathLst>
        </a:custGeom>
        <a:noFill/>
        <a:ln w="38100" cap="rnd" cmpd="sng" algn="ctr">
          <a:solidFill>
            <a:srgbClr val="92D05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3B386-8812-43E2-B9E7-551AFEA93D1D}">
      <dsp:nvSpPr>
        <dsp:cNvPr id="0" name=""/>
        <dsp:cNvSpPr/>
      </dsp:nvSpPr>
      <dsp:spPr>
        <a:xfrm>
          <a:off x="3345570" y="2947062"/>
          <a:ext cx="1259085" cy="8184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Proyecto</a:t>
          </a:r>
        </a:p>
      </dsp:txBody>
      <dsp:txXfrm>
        <a:off x="3385521" y="2987013"/>
        <a:ext cx="1179183" cy="738503"/>
      </dsp:txXfrm>
    </dsp:sp>
    <dsp:sp modelId="{A2D9E8B2-EC75-468A-804C-11DF2E5BFECD}">
      <dsp:nvSpPr>
        <dsp:cNvPr id="0" name=""/>
        <dsp:cNvSpPr/>
      </dsp:nvSpPr>
      <dsp:spPr>
        <a:xfrm>
          <a:off x="335238" y="511593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3208036" y="3376983"/>
              </a:moveTo>
              <a:arcTo wR="1930240" hR="1930240" stAng="2912901" swAng="960029"/>
            </a:path>
          </a:pathLst>
        </a:custGeom>
        <a:noFill/>
        <a:ln w="38100" cap="rnd" cmpd="sng" algn="ctr">
          <a:solidFill>
            <a:srgbClr val="7030A0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F9D9F-1B24-4787-83AA-FFE21406DE7C}">
      <dsp:nvSpPr>
        <dsp:cNvPr id="0" name=""/>
        <dsp:cNvSpPr/>
      </dsp:nvSpPr>
      <dsp:spPr>
        <a:xfrm>
          <a:off x="1672785" y="3949739"/>
          <a:ext cx="1259085" cy="8184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Demostración de lo aprendido</a:t>
          </a:r>
        </a:p>
      </dsp:txBody>
      <dsp:txXfrm>
        <a:off x="1712736" y="3989690"/>
        <a:ext cx="1179183" cy="738503"/>
      </dsp:txXfrm>
    </dsp:sp>
    <dsp:sp modelId="{15F0646F-CB80-4337-85B8-4AA1F686E601}">
      <dsp:nvSpPr>
        <dsp:cNvPr id="0" name=""/>
        <dsp:cNvSpPr/>
      </dsp:nvSpPr>
      <dsp:spPr>
        <a:xfrm>
          <a:off x="372087" y="498460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1141872" y="3692143"/>
              </a:moveTo>
              <a:arcTo wR="1930240" hR="1930240" stAng="6846375" swAng="925504"/>
            </a:path>
          </a:pathLst>
        </a:custGeom>
        <a:noFill/>
        <a:ln w="38100" cap="rnd" cmpd="sng" algn="ctr">
          <a:solidFill>
            <a:srgbClr val="08A3C2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91B7D-4824-4E54-AB1B-E829743BD5FA}">
      <dsp:nvSpPr>
        <dsp:cNvPr id="0" name=""/>
        <dsp:cNvSpPr/>
      </dsp:nvSpPr>
      <dsp:spPr>
        <a:xfrm>
          <a:off x="1147" y="2984618"/>
          <a:ext cx="1259085" cy="81840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Pruebas</a:t>
          </a:r>
        </a:p>
      </dsp:txBody>
      <dsp:txXfrm>
        <a:off x="41098" y="3024569"/>
        <a:ext cx="1179183" cy="738503"/>
      </dsp:txXfrm>
    </dsp:sp>
    <dsp:sp modelId="{6FD13128-9826-4F8C-A59F-11828071F5B5}">
      <dsp:nvSpPr>
        <dsp:cNvPr id="0" name=""/>
        <dsp:cNvSpPr/>
      </dsp:nvSpPr>
      <dsp:spPr>
        <a:xfrm>
          <a:off x="381230" y="529820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25870" y="2245204"/>
              </a:moveTo>
              <a:arcTo wR="1930240" hR="1930240" stAng="10236531" swAng="1173594"/>
            </a:path>
          </a:pathLst>
        </a:custGeom>
        <a:noFill/>
        <a:ln w="38100" cap="rnd" cmpd="sng" algn="ctr">
          <a:solidFill>
            <a:schemeClr val="accent6">
              <a:lumMod val="7500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0CDC81-0915-4F9C-9534-991F5E986F16}">
      <dsp:nvSpPr>
        <dsp:cNvPr id="0" name=""/>
        <dsp:cNvSpPr/>
      </dsp:nvSpPr>
      <dsp:spPr>
        <a:xfrm>
          <a:off x="0" y="1091934"/>
          <a:ext cx="1259085" cy="8184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200" kern="1200" dirty="0">
              <a:solidFill>
                <a:schemeClr val="tx1"/>
              </a:solidFill>
            </a:rPr>
            <a:t>Asistencia</a:t>
          </a:r>
        </a:p>
      </dsp:txBody>
      <dsp:txXfrm>
        <a:off x="39951" y="1131885"/>
        <a:ext cx="1179183" cy="738503"/>
      </dsp:txXfrm>
    </dsp:sp>
    <dsp:sp modelId="{F8021E37-C9B3-41D4-B651-F6D7A1678580}">
      <dsp:nvSpPr>
        <dsp:cNvPr id="0" name=""/>
        <dsp:cNvSpPr/>
      </dsp:nvSpPr>
      <dsp:spPr>
        <a:xfrm>
          <a:off x="408936" y="485328"/>
          <a:ext cx="3860481" cy="3860481"/>
        </a:xfrm>
        <a:custGeom>
          <a:avLst/>
          <a:gdLst/>
          <a:ahLst/>
          <a:cxnLst/>
          <a:rect l="0" t="0" r="0" b="0"/>
          <a:pathLst>
            <a:path>
              <a:moveTo>
                <a:pt x="652444" y="483497"/>
              </a:moveTo>
              <a:arcTo wR="1930240" hR="1930240" stAng="13712901" swAng="960029"/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2EFD3-3E8C-4294-AC0B-B8FB92DEA5F2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BE931-C25A-4692-B5E3-905A2F97566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63591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C34AF-BCDD-4F51-9D4D-C97A282EBC93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447D3-A552-4167-815A-491A1E65E8E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5501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DFC8B-31BE-4945-AB16-CC7F873E1C03}" type="slidenum">
              <a:rPr lang="es-CR" smtClean="0"/>
              <a:pPr/>
              <a:t>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1297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0854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1129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155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7743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2311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4006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3072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7728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9977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8082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2893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38964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4542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36533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76067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1108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AECF1-721E-4618-965F-84A28DADC12F}" type="datetimeFigureOut">
              <a:rPr lang="es-CR" smtClean="0"/>
              <a:t>21/8/2020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A37024-A93F-4994-9FCB-E3FB7B811DB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810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Cu&#225;les%20son%20los%20prop&#243;sitos%20evaluativos%5b1%5d.pptx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2204749" y="1111827"/>
            <a:ext cx="8915399" cy="2262781"/>
          </a:xfrm>
        </p:spPr>
        <p:txBody>
          <a:bodyPr>
            <a:normAutofit fontScale="90000"/>
          </a:bodyPr>
          <a:lstStyle/>
          <a:p>
            <a:pPr algn="just"/>
            <a:r>
              <a:rPr lang="es-CR" dirty="0"/>
              <a:t>Creencias y realidades de la evaluación de los aprendizajes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3163444" y="5055783"/>
            <a:ext cx="7766936" cy="1096899"/>
          </a:xfrm>
        </p:spPr>
        <p:txBody>
          <a:bodyPr>
            <a:normAutofit/>
          </a:bodyPr>
          <a:lstStyle/>
          <a:p>
            <a:endParaRPr lang="es-CR" dirty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445377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ipse 28"/>
          <p:cNvSpPr/>
          <p:nvPr/>
        </p:nvSpPr>
        <p:spPr>
          <a:xfrm>
            <a:off x="604271" y="1252918"/>
            <a:ext cx="1565033" cy="153684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" name="CuadroTexto 3"/>
          <p:cNvSpPr txBox="1"/>
          <p:nvPr/>
        </p:nvSpPr>
        <p:spPr>
          <a:xfrm>
            <a:off x="613022" y="72742"/>
            <a:ext cx="1126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2800" b="1" dirty="0">
                <a:ln w="12700" cmpd="sng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Evaluación de los Aprendizajes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49898" y="1836675"/>
            <a:ext cx="141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rgbClr val="FFC000"/>
                </a:solidFill>
              </a:rPr>
              <a:t>Creencias</a:t>
            </a:r>
          </a:p>
        </p:txBody>
      </p:sp>
      <p:cxnSp>
        <p:nvCxnSpPr>
          <p:cNvPr id="8" name="Conector recto de flecha 7"/>
          <p:cNvCxnSpPr/>
          <p:nvPr/>
        </p:nvCxnSpPr>
        <p:spPr>
          <a:xfrm flipV="1">
            <a:off x="1950649" y="1135687"/>
            <a:ext cx="417491" cy="23446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2181026" y="1639819"/>
            <a:ext cx="416255" cy="4168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V="1">
            <a:off x="2242068" y="2075417"/>
            <a:ext cx="416255" cy="302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2233870" y="2407285"/>
            <a:ext cx="416255" cy="13914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>
            <a:off x="2014399" y="2620655"/>
            <a:ext cx="227669" cy="19848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2389153" y="914162"/>
            <a:ext cx="299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Se evalúa al estudiante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2597281" y="1450550"/>
            <a:ext cx="320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Se evalúa para promover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2658322" y="1902569"/>
            <a:ext cx="6733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Es un momento del proceso de enseñanza y aprendizaje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658322" y="2409984"/>
            <a:ext cx="393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Es tarea exclusiva del docente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2224568" y="2852672"/>
            <a:ext cx="485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Es un apéndice de la enseñanza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4745105" y="3742596"/>
            <a:ext cx="3481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Elemento de la didáctica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5014274" y="4264671"/>
            <a:ext cx="5453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Requisito para la mejora de la calidad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5087038" y="4770073"/>
            <a:ext cx="671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Actividad sistemática integrada al proceso educativo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5070643" y="5260982"/>
            <a:ext cx="5767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u="sng" dirty="0"/>
              <a:t>Proceso</a:t>
            </a:r>
            <a:r>
              <a:rPr lang="es-CR" dirty="0"/>
              <a:t> dinámico, participativo, contextualizado</a:t>
            </a:r>
            <a:endParaRPr lang="es-CR" u="sng" dirty="0"/>
          </a:p>
        </p:txBody>
      </p:sp>
      <p:sp>
        <p:nvSpPr>
          <p:cNvPr id="50" name="Elipse 49"/>
          <p:cNvSpPr/>
          <p:nvPr/>
        </p:nvSpPr>
        <p:spPr>
          <a:xfrm>
            <a:off x="2960223" y="4058579"/>
            <a:ext cx="1565033" cy="1536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1" name="CuadroTexto 50"/>
          <p:cNvSpPr txBox="1"/>
          <p:nvPr/>
        </p:nvSpPr>
        <p:spPr>
          <a:xfrm>
            <a:off x="2960224" y="4388523"/>
            <a:ext cx="157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chemeClr val="accent1">
                    <a:lumMod val="75000"/>
                  </a:schemeClr>
                </a:solidFill>
              </a:rPr>
              <a:t>Deber ser de la evaluación</a:t>
            </a:r>
          </a:p>
        </p:txBody>
      </p:sp>
      <p:cxnSp>
        <p:nvCxnSpPr>
          <p:cNvPr id="52" name="Conector recto de flecha 51"/>
          <p:cNvCxnSpPr/>
          <p:nvPr/>
        </p:nvCxnSpPr>
        <p:spPr>
          <a:xfrm flipV="1">
            <a:off x="4306601" y="3941348"/>
            <a:ext cx="417491" cy="23446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/>
          <p:nvPr/>
        </p:nvCxnSpPr>
        <p:spPr>
          <a:xfrm flipV="1">
            <a:off x="4536978" y="4445480"/>
            <a:ext cx="416255" cy="4168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 flipV="1">
            <a:off x="4598020" y="4881078"/>
            <a:ext cx="416255" cy="302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>
            <a:off x="4589822" y="5212946"/>
            <a:ext cx="416255" cy="13914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6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" grpId="0"/>
      <p:bldP spid="21" grpId="0"/>
      <p:bldP spid="23" grpId="0"/>
      <p:bldP spid="24" grpId="0"/>
      <p:bldP spid="25" grpId="0"/>
      <p:bldP spid="26" grpId="0"/>
      <p:bldP spid="31" grpId="0"/>
      <p:bldP spid="42" grpId="0"/>
      <p:bldP spid="43" grpId="0"/>
      <p:bldP spid="44" grpId="0"/>
      <p:bldP spid="50" grpId="0" animBg="1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580290" y="456078"/>
            <a:ext cx="1565033" cy="1536845"/>
          </a:xfrm>
          <a:prstGeom prst="ellipse">
            <a:avLst/>
          </a:prstGeom>
          <a:solidFill>
            <a:srgbClr val="CCCCFF"/>
          </a:solidFill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4125791" y="2150686"/>
            <a:ext cx="43375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121877" y="164620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Metodología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2368062" y="889236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Conocimientos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145323" y="1975484"/>
            <a:ext cx="198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Procedimientos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4642324" y="1965697"/>
            <a:ext cx="562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aprendizajes esperados según cada asignatura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509952" y="1086726"/>
            <a:ext cx="1705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>
                <a:solidFill>
                  <a:srgbClr val="7030A0"/>
                </a:solidFill>
              </a:rPr>
              <a:t>¿Qué evaluar?</a:t>
            </a:r>
            <a:endParaRPr lang="es-CR" dirty="0"/>
          </a:p>
        </p:txBody>
      </p:sp>
      <p:cxnSp>
        <p:nvCxnSpPr>
          <p:cNvPr id="16" name="Conector recto de flecha 15"/>
          <p:cNvCxnSpPr>
            <a:endCxn id="10" idx="1"/>
          </p:cNvCxnSpPr>
          <p:nvPr/>
        </p:nvCxnSpPr>
        <p:spPr>
          <a:xfrm flipV="1">
            <a:off x="1899138" y="349286"/>
            <a:ext cx="222739" cy="18466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endCxn id="11" idx="1"/>
          </p:cNvCxnSpPr>
          <p:nvPr/>
        </p:nvCxnSpPr>
        <p:spPr>
          <a:xfrm>
            <a:off x="2215661" y="1073902"/>
            <a:ext cx="15240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endCxn id="12" idx="1"/>
          </p:cNvCxnSpPr>
          <p:nvPr/>
        </p:nvCxnSpPr>
        <p:spPr>
          <a:xfrm>
            <a:off x="1863969" y="2034933"/>
            <a:ext cx="281354" cy="1252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3065576" y="2894472"/>
            <a:ext cx="1565033" cy="1536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7" name="CuadroTexto 26"/>
          <p:cNvSpPr txBox="1"/>
          <p:nvPr/>
        </p:nvSpPr>
        <p:spPr>
          <a:xfrm>
            <a:off x="4865063" y="2967450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La persona docente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4853348" y="3521447"/>
            <a:ext cx="196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 estudiantado 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3065576" y="3358070"/>
            <a:ext cx="160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chemeClr val="accent1">
                    <a:lumMod val="75000"/>
                  </a:schemeClr>
                </a:solidFill>
              </a:rPr>
              <a:t>¿Quién evalúa?</a:t>
            </a:r>
            <a:endParaRPr lang="es-CR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" name="Conector recto de flecha 31"/>
          <p:cNvCxnSpPr>
            <a:endCxn id="27" idx="1"/>
          </p:cNvCxnSpPr>
          <p:nvPr/>
        </p:nvCxnSpPr>
        <p:spPr>
          <a:xfrm flipV="1">
            <a:off x="4642324" y="3152116"/>
            <a:ext cx="222739" cy="18466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endCxn id="28" idx="1"/>
          </p:cNvCxnSpPr>
          <p:nvPr/>
        </p:nvCxnSpPr>
        <p:spPr>
          <a:xfrm>
            <a:off x="4700947" y="3706113"/>
            <a:ext cx="152401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6822824" y="3431023"/>
            <a:ext cx="517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(autoevaluación, coevaluación, </a:t>
            </a:r>
            <a:r>
              <a:rPr lang="es-CR" dirty="0" err="1"/>
              <a:t>heteroevaluación</a:t>
            </a:r>
            <a:r>
              <a:rPr lang="es-CR" dirty="0"/>
              <a:t>)</a:t>
            </a:r>
          </a:p>
        </p:txBody>
      </p:sp>
      <p:cxnSp>
        <p:nvCxnSpPr>
          <p:cNvPr id="38" name="Conector recto de flecha 37"/>
          <p:cNvCxnSpPr>
            <a:endCxn id="28" idx="3"/>
          </p:cNvCxnSpPr>
          <p:nvPr/>
        </p:nvCxnSpPr>
        <p:spPr>
          <a:xfrm>
            <a:off x="6626462" y="3706113"/>
            <a:ext cx="196362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/>
          <p:cNvSpPr/>
          <p:nvPr/>
        </p:nvSpPr>
        <p:spPr>
          <a:xfrm>
            <a:off x="811815" y="4478455"/>
            <a:ext cx="1565033" cy="1536845"/>
          </a:xfrm>
          <a:prstGeom prst="ellipse">
            <a:avLst/>
          </a:prstGeom>
          <a:solidFill>
            <a:srgbClr val="CCFFCC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3" name="CuadroTexto 42"/>
          <p:cNvSpPr txBox="1"/>
          <p:nvPr/>
        </p:nvSpPr>
        <p:spPr>
          <a:xfrm>
            <a:off x="811815" y="4965319"/>
            <a:ext cx="1565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rgbClr val="00B050"/>
                </a:solidFill>
              </a:rPr>
              <a:t>¿Cuándo evaluar? </a:t>
            </a:r>
            <a:endParaRPr lang="es-CR" dirty="0"/>
          </a:p>
        </p:txBody>
      </p:sp>
      <p:cxnSp>
        <p:nvCxnSpPr>
          <p:cNvPr id="44" name="Conector recto de flecha 43"/>
          <p:cNvCxnSpPr/>
          <p:nvPr/>
        </p:nvCxnSpPr>
        <p:spPr>
          <a:xfrm flipV="1">
            <a:off x="2515110" y="4760775"/>
            <a:ext cx="222739" cy="1846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>
            <a:off x="2550278" y="5299528"/>
            <a:ext cx="15240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>
            <a:off x="2515110" y="5645057"/>
            <a:ext cx="281354" cy="1252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/>
          <p:cNvSpPr txBox="1"/>
          <p:nvPr/>
        </p:nvSpPr>
        <p:spPr>
          <a:xfrm>
            <a:off x="2788179" y="4574876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Inicio</a:t>
            </a:r>
          </a:p>
        </p:txBody>
      </p:sp>
      <p:sp>
        <p:nvSpPr>
          <p:cNvPr id="48" name="Rectángulo 47"/>
          <p:cNvSpPr/>
          <p:nvPr/>
        </p:nvSpPr>
        <p:spPr>
          <a:xfrm>
            <a:off x="2824287" y="5148096"/>
            <a:ext cx="926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Proceso</a:t>
            </a:r>
          </a:p>
        </p:txBody>
      </p:sp>
      <p:sp>
        <p:nvSpPr>
          <p:cNvPr id="49" name="Rectángulo 48"/>
          <p:cNvSpPr/>
          <p:nvPr/>
        </p:nvSpPr>
        <p:spPr>
          <a:xfrm>
            <a:off x="2846801" y="5721317"/>
            <a:ext cx="628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Final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2324094" y="1249527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Actitudes</a:t>
            </a:r>
          </a:p>
        </p:txBody>
      </p:sp>
      <p:cxnSp>
        <p:nvCxnSpPr>
          <p:cNvPr id="30" name="Conector recto de flecha 29"/>
          <p:cNvCxnSpPr>
            <a:endCxn id="29" idx="1"/>
          </p:cNvCxnSpPr>
          <p:nvPr/>
        </p:nvCxnSpPr>
        <p:spPr>
          <a:xfrm>
            <a:off x="2171693" y="1434193"/>
            <a:ext cx="15240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2186354" y="1625963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Destrezas</a:t>
            </a:r>
          </a:p>
        </p:txBody>
      </p:sp>
      <p:cxnSp>
        <p:nvCxnSpPr>
          <p:cNvPr id="35" name="Conector recto de flecha 34"/>
          <p:cNvCxnSpPr>
            <a:endCxn id="34" idx="1"/>
          </p:cNvCxnSpPr>
          <p:nvPr/>
        </p:nvCxnSpPr>
        <p:spPr>
          <a:xfrm>
            <a:off x="2033953" y="1810629"/>
            <a:ext cx="15240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2297723" y="535171"/>
            <a:ext cx="287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Habilidades</a:t>
            </a:r>
          </a:p>
        </p:txBody>
      </p:sp>
      <p:cxnSp>
        <p:nvCxnSpPr>
          <p:cNvPr id="39" name="Conector recto de flecha 38"/>
          <p:cNvCxnSpPr>
            <a:endCxn id="37" idx="1"/>
          </p:cNvCxnSpPr>
          <p:nvPr/>
        </p:nvCxnSpPr>
        <p:spPr>
          <a:xfrm>
            <a:off x="2145322" y="719837"/>
            <a:ext cx="15240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>
            <a:off x="4621801" y="4141808"/>
            <a:ext cx="263783" cy="116463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4865063" y="4123521"/>
            <a:ext cx="349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La persona encargada legal</a:t>
            </a:r>
          </a:p>
        </p:txBody>
      </p:sp>
    </p:spTree>
    <p:extLst>
      <p:ext uri="{BB962C8B-B14F-4D97-AF65-F5344CB8AC3E}">
        <p14:creationId xmlns:p14="http://schemas.microsoft.com/office/powerpoint/2010/main" val="220448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/>
      <p:bldP spid="12" grpId="0"/>
      <p:bldP spid="13" grpId="0"/>
      <p:bldP spid="14" grpId="0"/>
      <p:bldP spid="25" grpId="0" animBg="1"/>
      <p:bldP spid="27" grpId="0"/>
      <p:bldP spid="28" grpId="0"/>
      <p:bldP spid="31" grpId="0"/>
      <p:bldP spid="36" grpId="0"/>
      <p:bldP spid="42" grpId="0" animBg="1"/>
      <p:bldP spid="43" grpId="0"/>
      <p:bldP spid="47" grpId="0"/>
      <p:bldP spid="48" grpId="0"/>
      <p:bldP spid="49" grpId="0"/>
      <p:bldP spid="29" grpId="0"/>
      <p:bldP spid="34" grpId="0"/>
      <p:bldP spid="37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828373" y="5599917"/>
            <a:ext cx="545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Garantizar resultados esperados</a:t>
            </a:r>
          </a:p>
        </p:txBody>
      </p:sp>
      <p:sp>
        <p:nvSpPr>
          <p:cNvPr id="10" name="Elipse 9"/>
          <p:cNvSpPr/>
          <p:nvPr/>
        </p:nvSpPr>
        <p:spPr>
          <a:xfrm>
            <a:off x="580290" y="456078"/>
            <a:ext cx="1565033" cy="1536845"/>
          </a:xfrm>
          <a:prstGeom prst="ellipse">
            <a:avLst/>
          </a:prstGeom>
          <a:solidFill>
            <a:srgbClr val="FEDFD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3" name="CuadroTexto 12"/>
          <p:cNvSpPr txBox="1"/>
          <p:nvPr/>
        </p:nvSpPr>
        <p:spPr>
          <a:xfrm>
            <a:off x="2368063" y="1083053"/>
            <a:ext cx="293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Técnicas e instrumentos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5377962" y="806054"/>
            <a:ext cx="4601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(observación, diarios de clase, producción de textos, realización de ejercicios, mapas conceptuales, escalas, pruebas)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680896" y="944553"/>
            <a:ext cx="1423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rgbClr val="FF0000"/>
                </a:solidFill>
              </a:rPr>
              <a:t>¿Cómo evaluar? </a:t>
            </a:r>
            <a:endParaRPr lang="es-CR" dirty="0"/>
          </a:p>
        </p:txBody>
      </p:sp>
      <p:cxnSp>
        <p:nvCxnSpPr>
          <p:cNvPr id="18" name="Conector recto de flecha 17"/>
          <p:cNvCxnSpPr>
            <a:endCxn id="13" idx="1"/>
          </p:cNvCxnSpPr>
          <p:nvPr/>
        </p:nvCxnSpPr>
        <p:spPr>
          <a:xfrm>
            <a:off x="2215661" y="1267719"/>
            <a:ext cx="15240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>
            <a:off x="5175882" y="1267719"/>
            <a:ext cx="2634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2145323" y="3563156"/>
            <a:ext cx="1565033" cy="1536845"/>
          </a:xfrm>
          <a:prstGeom prst="ellipse">
            <a:avLst/>
          </a:prstGeom>
          <a:solidFill>
            <a:srgbClr val="FFE0C1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b="1" dirty="0">
                <a:solidFill>
                  <a:srgbClr val="FF6600"/>
                </a:solidFill>
              </a:rPr>
              <a:t>¿Para qué evaluar?</a:t>
            </a:r>
            <a:r>
              <a:rPr lang="es-CR" dirty="0"/>
              <a:t> </a:t>
            </a:r>
          </a:p>
        </p:txBody>
      </p:sp>
      <p:cxnSp>
        <p:nvCxnSpPr>
          <p:cNvPr id="22" name="Conector recto de flecha 21"/>
          <p:cNvCxnSpPr/>
          <p:nvPr/>
        </p:nvCxnSpPr>
        <p:spPr>
          <a:xfrm flipV="1">
            <a:off x="3282849" y="3102964"/>
            <a:ext cx="344774" cy="411549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3710356" y="2952472"/>
            <a:ext cx="245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Obtener resultados 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>
            <a:off x="5886397" y="3200676"/>
            <a:ext cx="433753" cy="0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6320150" y="2975997"/>
            <a:ext cx="392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elemento de reflexión y análisis</a:t>
            </a:r>
          </a:p>
        </p:txBody>
      </p:sp>
      <p:cxnSp>
        <p:nvCxnSpPr>
          <p:cNvPr id="26" name="Conector recto de flecha 25"/>
          <p:cNvCxnSpPr/>
          <p:nvPr/>
        </p:nvCxnSpPr>
        <p:spPr>
          <a:xfrm flipV="1">
            <a:off x="3663223" y="3656631"/>
            <a:ext cx="399829" cy="182380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4156834" y="3469679"/>
            <a:ext cx="465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Identificar áreas de mejora</a:t>
            </a:r>
          </a:p>
        </p:txBody>
      </p:sp>
      <p:cxnSp>
        <p:nvCxnSpPr>
          <p:cNvPr id="30" name="Conector recto de flecha 29"/>
          <p:cNvCxnSpPr/>
          <p:nvPr/>
        </p:nvCxnSpPr>
        <p:spPr>
          <a:xfrm flipV="1">
            <a:off x="3838677" y="4171551"/>
            <a:ext cx="448510" cy="43313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4261765" y="3986885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Toma de decisiones</a:t>
            </a:r>
          </a:p>
        </p:txBody>
      </p:sp>
      <p:cxnSp>
        <p:nvCxnSpPr>
          <p:cNvPr id="34" name="Conector recto de flecha 33"/>
          <p:cNvCxnSpPr/>
          <p:nvPr/>
        </p:nvCxnSpPr>
        <p:spPr>
          <a:xfrm>
            <a:off x="3833754" y="4555624"/>
            <a:ext cx="423088" cy="133133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4261764" y="4496664"/>
            <a:ext cx="512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 Plantear oportunidades de mejora</a:t>
            </a:r>
          </a:p>
        </p:txBody>
      </p:sp>
      <p:cxnSp>
        <p:nvCxnSpPr>
          <p:cNvPr id="37" name="Conector recto de flecha 36"/>
          <p:cNvCxnSpPr/>
          <p:nvPr/>
        </p:nvCxnSpPr>
        <p:spPr>
          <a:xfrm>
            <a:off x="3663223" y="4895636"/>
            <a:ext cx="445630" cy="411199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4085243" y="5144337"/>
            <a:ext cx="7007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Mejorar los procesos de enseñanza y aprendizaje</a:t>
            </a:r>
          </a:p>
        </p:txBody>
      </p:sp>
      <p:cxnSp>
        <p:nvCxnSpPr>
          <p:cNvPr id="40" name="Conector recto de flecha 39"/>
          <p:cNvCxnSpPr/>
          <p:nvPr/>
        </p:nvCxnSpPr>
        <p:spPr>
          <a:xfrm>
            <a:off x="3337013" y="5226975"/>
            <a:ext cx="445630" cy="411199"/>
          </a:xfrm>
          <a:prstGeom prst="straightConnector1">
            <a:avLst/>
          </a:prstGeom>
          <a:ln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60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3" grpId="0"/>
      <p:bldP spid="15" grpId="0"/>
      <p:bldP spid="16" grpId="0"/>
      <p:bldP spid="21" grpId="0" animBg="1"/>
      <p:bldP spid="23" grpId="0"/>
      <p:bldP spid="25" grpId="0"/>
      <p:bldP spid="29" grpId="0"/>
      <p:bldP spid="33" grpId="0"/>
      <p:bldP spid="36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/>
          <p:cNvSpPr txBox="1"/>
          <p:nvPr/>
        </p:nvSpPr>
        <p:spPr>
          <a:xfrm>
            <a:off x="4454578" y="2708050"/>
            <a:ext cx="477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Tareas</a:t>
            </a:r>
          </a:p>
        </p:txBody>
      </p:sp>
      <p:sp>
        <p:nvSpPr>
          <p:cNvPr id="3" name="Elipse 2"/>
          <p:cNvSpPr/>
          <p:nvPr/>
        </p:nvSpPr>
        <p:spPr>
          <a:xfrm>
            <a:off x="1749946" y="2316631"/>
            <a:ext cx="2184972" cy="1693888"/>
          </a:xfrm>
          <a:prstGeom prst="ellipse">
            <a:avLst/>
          </a:prstGeom>
          <a:solidFill>
            <a:srgbClr val="CCFFFF"/>
          </a:solidFill>
          <a:ln>
            <a:solidFill>
              <a:srgbClr val="33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" name="CuadroTexto 3"/>
          <p:cNvSpPr txBox="1"/>
          <p:nvPr/>
        </p:nvSpPr>
        <p:spPr>
          <a:xfrm>
            <a:off x="1995488" y="2917885"/>
            <a:ext cx="178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rgbClr val="33CCCC"/>
                </a:solidFill>
              </a:rPr>
              <a:t>Componentes de la calificación </a:t>
            </a:r>
          </a:p>
        </p:txBody>
      </p:sp>
      <p:cxnSp>
        <p:nvCxnSpPr>
          <p:cNvPr id="11" name="Conector recto de flecha 10"/>
          <p:cNvCxnSpPr/>
          <p:nvPr/>
        </p:nvCxnSpPr>
        <p:spPr>
          <a:xfrm>
            <a:off x="4046095" y="3295124"/>
            <a:ext cx="404734" cy="0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3993630" y="2450506"/>
            <a:ext cx="409731" cy="257544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>
            <a:off x="3986135" y="3557025"/>
            <a:ext cx="417226" cy="214860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>
            <a:off x="4021268" y="2917885"/>
            <a:ext cx="404734" cy="0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4403361" y="2232763"/>
            <a:ext cx="477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Trabajo cotidiano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4447083" y="3557025"/>
            <a:ext cx="477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Asistencia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4447083" y="3110459"/>
            <a:ext cx="477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Pruebas</a:t>
            </a:r>
          </a:p>
        </p:txBody>
      </p:sp>
      <p:cxnSp>
        <p:nvCxnSpPr>
          <p:cNvPr id="15" name="Conector recto de flecha 14"/>
          <p:cNvCxnSpPr/>
          <p:nvPr/>
        </p:nvCxnSpPr>
        <p:spPr>
          <a:xfrm>
            <a:off x="3777522" y="3858859"/>
            <a:ext cx="417226" cy="214860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4454578" y="4033785"/>
            <a:ext cx="141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Proyecto</a:t>
            </a:r>
          </a:p>
        </p:txBody>
      </p:sp>
      <p:cxnSp>
        <p:nvCxnSpPr>
          <p:cNvPr id="20" name="Conector recto de flecha 19"/>
          <p:cNvCxnSpPr/>
          <p:nvPr/>
        </p:nvCxnSpPr>
        <p:spPr>
          <a:xfrm>
            <a:off x="3525723" y="4139838"/>
            <a:ext cx="417226" cy="214860"/>
          </a:xfrm>
          <a:prstGeom prst="straightConnector1">
            <a:avLst/>
          </a:prstGeom>
          <a:ln>
            <a:solidFill>
              <a:srgbClr val="33CC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4403360" y="4459963"/>
            <a:ext cx="290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Demostración de lo aprendido </a:t>
            </a:r>
          </a:p>
        </p:txBody>
      </p:sp>
    </p:spTree>
    <p:extLst>
      <p:ext uri="{BB962C8B-B14F-4D97-AF65-F5344CB8AC3E}">
        <p14:creationId xmlns:p14="http://schemas.microsoft.com/office/powerpoint/2010/main" val="86915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4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Llamada de flecha a la izquierda"/>
          <p:cNvSpPr/>
          <p:nvPr/>
        </p:nvSpPr>
        <p:spPr>
          <a:xfrm rot="16200000">
            <a:off x="3035660" y="-207404"/>
            <a:ext cx="1512168" cy="3600400"/>
          </a:xfrm>
          <a:prstGeom prst="left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6 CuadroTexto"/>
          <p:cNvSpPr txBox="1"/>
          <p:nvPr/>
        </p:nvSpPr>
        <p:spPr>
          <a:xfrm>
            <a:off x="2207568" y="106202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PROPÓSITO DIAGNÓSTICO</a:t>
            </a:r>
          </a:p>
        </p:txBody>
      </p:sp>
      <p:sp>
        <p:nvSpPr>
          <p:cNvPr id="9" name="8 Llamada de flecha a la izquierda"/>
          <p:cNvSpPr/>
          <p:nvPr/>
        </p:nvSpPr>
        <p:spPr>
          <a:xfrm rot="16200000">
            <a:off x="7287344" y="-218353"/>
            <a:ext cx="1440160" cy="3528392"/>
          </a:xfrm>
          <a:prstGeom prst="left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0" name="9 CuadroTexto"/>
          <p:cNvSpPr txBox="1"/>
          <p:nvPr/>
        </p:nvSpPr>
        <p:spPr>
          <a:xfrm>
            <a:off x="6528048" y="105103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PROPÓSITO FORMATIVO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1991544" y="2634007"/>
            <a:ext cx="3672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R" dirty="0"/>
              <a:t>Conocimiento del contexto</a:t>
            </a:r>
          </a:p>
          <a:p>
            <a:pPr>
              <a:buFont typeface="Wingdings" pitchFamily="2" charset="2"/>
              <a:buChar char="q"/>
            </a:pPr>
            <a:r>
              <a:rPr lang="es-CR" dirty="0"/>
              <a:t>Ajustar programación general</a:t>
            </a:r>
          </a:p>
          <a:p>
            <a:pPr>
              <a:buFont typeface="Wingdings" pitchFamily="2" charset="2"/>
              <a:buChar char="q"/>
            </a:pPr>
            <a:r>
              <a:rPr lang="es-CR" dirty="0"/>
              <a:t>Conocimientos de habilidades, destrezas  previas</a:t>
            </a:r>
          </a:p>
          <a:p>
            <a:endParaRPr lang="es-C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394918" y="2527010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R" dirty="0"/>
              <a:t> Detecta debilidades y fortalezas socio afectivas, psicomotoras y académicas .</a:t>
            </a:r>
          </a:p>
          <a:p>
            <a:pPr>
              <a:buFont typeface="Wingdings" pitchFamily="2" charset="2"/>
              <a:buChar char="q"/>
            </a:pPr>
            <a:r>
              <a:rPr lang="es-CR" dirty="0"/>
              <a:t> Toma de decisiones prontas y oportunas durante el proceso.</a:t>
            </a:r>
          </a:p>
          <a:p>
            <a:pPr>
              <a:buFont typeface="Wingdings" pitchFamily="2" charset="2"/>
              <a:buChar char="q"/>
            </a:pPr>
            <a:r>
              <a:rPr lang="es-CR" dirty="0"/>
              <a:t> Participación  docente-estudiante.</a:t>
            </a:r>
          </a:p>
        </p:txBody>
      </p:sp>
      <p:sp>
        <p:nvSpPr>
          <p:cNvPr id="13" name="12 Llamada de flecha a la izquierda"/>
          <p:cNvSpPr/>
          <p:nvPr/>
        </p:nvSpPr>
        <p:spPr>
          <a:xfrm rot="10800000">
            <a:off x="1919536" y="5193490"/>
            <a:ext cx="3744416" cy="972108"/>
          </a:xfrm>
          <a:prstGeom prst="leftArrow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sp>
        <p:nvSpPr>
          <p:cNvPr id="14" name="13 CuadroTexto"/>
          <p:cNvSpPr txBox="1"/>
          <p:nvPr/>
        </p:nvSpPr>
        <p:spPr>
          <a:xfrm>
            <a:off x="1817372" y="535637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/>
              <a:t>PROPÓSITO SUMATIVO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6243228" y="4965270"/>
            <a:ext cx="3672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s-CR" dirty="0"/>
              <a:t> Información que complementa los juicios de valor.</a:t>
            </a:r>
          </a:p>
          <a:p>
            <a:pPr>
              <a:buFont typeface="Wingdings" pitchFamily="2" charset="2"/>
              <a:buChar char="q"/>
            </a:pPr>
            <a:r>
              <a:rPr lang="es-CR" dirty="0"/>
              <a:t>Asignación de calificaciones o certificaciones.</a:t>
            </a:r>
          </a:p>
        </p:txBody>
      </p:sp>
    </p:spTree>
    <p:extLst>
      <p:ext uri="{BB962C8B-B14F-4D97-AF65-F5344CB8AC3E}">
        <p14:creationId xmlns:p14="http://schemas.microsoft.com/office/powerpoint/2010/main" val="31041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 i="1" dirty="0">
                <a:solidFill>
                  <a:schemeClr val="accent1">
                    <a:lumMod val="50000"/>
                  </a:schemeClr>
                </a:solidFill>
              </a:rPr>
              <a:t>INTEGRALIDAD  Y CONTINUIDAD DE LA EVALUACIÓN DE LOS APRENDIZAJES</a:t>
            </a:r>
            <a:endParaRPr lang="es-CR" sz="2800" dirty="0"/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18718819"/>
              </p:ext>
            </p:extLst>
          </p:nvPr>
        </p:nvGraphicFramePr>
        <p:xfrm>
          <a:off x="3265715" y="1834818"/>
          <a:ext cx="4604656" cy="4857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4946781" y="3836945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>
                <a:hlinkClick r:id="" action="ppaction://hlinkpres?slideindex=1&amp;slidetitle="/>
              </a:rPr>
              <a:t>Diagnóstico</a:t>
            </a:r>
          </a:p>
          <a:p>
            <a:pPr algn="ctr"/>
            <a:r>
              <a:rPr lang="es-CR" dirty="0">
                <a:hlinkClick r:id="" action="ppaction://hlinkpres?slideindex=1&amp;slidetitle="/>
              </a:rPr>
              <a:t>Formativo </a:t>
            </a:r>
          </a:p>
          <a:p>
            <a:pPr algn="ctr"/>
            <a:r>
              <a:rPr lang="es-CR" dirty="0" err="1">
                <a:hlinkClick r:id="rId8" action="ppaction://hlinkpres?slideindex=1&amp;slidetitle="/>
              </a:rPr>
              <a:t>Sumativo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7123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6" grpId="0">
        <p:bldAsOne/>
      </p:bldGraphic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417762" y="1390650"/>
            <a:ext cx="8915400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R" sz="4800" dirty="0"/>
              <a:t>La evaluación de los aprendizajes es una herramienta para mejorar la práctica docente.</a:t>
            </a:r>
          </a:p>
        </p:txBody>
      </p:sp>
    </p:spTree>
    <p:extLst>
      <p:ext uri="{BB962C8B-B14F-4D97-AF65-F5344CB8AC3E}">
        <p14:creationId xmlns:p14="http://schemas.microsoft.com/office/powerpoint/2010/main" val="170846943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388</TotalTime>
  <Words>286</Words>
  <Application>Microsoft Office PowerPoint</Application>
  <PresentationFormat>Panorámica</PresentationFormat>
  <Paragraphs>71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Wingdings</vt:lpstr>
      <vt:lpstr>Wingdings 3</vt:lpstr>
      <vt:lpstr>Espiral</vt:lpstr>
      <vt:lpstr>Creencias y realidades de la evaluación de los aprendizajes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INTEGRALIDAD  Y CONTINUIDAD DE LA EVALUACIÓN DE LOS APRENDIZAJES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Kembly Goyenaga Valverde</dc:creator>
  <cp:lastModifiedBy>Lilliam Badilla Calderon</cp:lastModifiedBy>
  <cp:revision>36</cp:revision>
  <cp:lastPrinted>2016-03-08T17:30:37Z</cp:lastPrinted>
  <dcterms:created xsi:type="dcterms:W3CDTF">2015-09-08T13:58:06Z</dcterms:created>
  <dcterms:modified xsi:type="dcterms:W3CDTF">2020-08-22T00:28:09Z</dcterms:modified>
</cp:coreProperties>
</file>